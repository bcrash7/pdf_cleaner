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7"/>
  </p:notesMasterIdLst>
  <p:sldIdLst>
    <p:sldId id="1018" r:id="rId3"/>
    <p:sldId id="1032" r:id="rId4"/>
    <p:sldId id="1037" r:id="rId5"/>
    <p:sldId id="1058" r:id="rId6"/>
    <p:sldId id="1059" r:id="rId7"/>
    <p:sldId id="1064" r:id="rId8"/>
    <p:sldId id="1066" r:id="rId9"/>
    <p:sldId id="267" r:id="rId10"/>
    <p:sldId id="1054" r:id="rId11"/>
    <p:sldId id="1060" r:id="rId12"/>
    <p:sldId id="1055" r:id="rId13"/>
    <p:sldId id="1056" r:id="rId14"/>
    <p:sldId id="1057" r:id="rId15"/>
    <p:sldId id="1061" r:id="rId16"/>
    <p:sldId id="268" r:id="rId17"/>
    <p:sldId id="1038" r:id="rId18"/>
    <p:sldId id="1039" r:id="rId19"/>
    <p:sldId id="1040" r:id="rId20"/>
    <p:sldId id="1041" r:id="rId21"/>
    <p:sldId id="1042" r:id="rId22"/>
    <p:sldId id="1063" r:id="rId23"/>
    <p:sldId id="1043" r:id="rId24"/>
    <p:sldId id="1044" r:id="rId25"/>
    <p:sldId id="1053" r:id="rId26"/>
    <p:sldId id="1045" r:id="rId27"/>
    <p:sldId id="302" r:id="rId28"/>
    <p:sldId id="1047" r:id="rId29"/>
    <p:sldId id="269" r:id="rId30"/>
    <p:sldId id="1046" r:id="rId31"/>
    <p:sldId id="1048" r:id="rId32"/>
    <p:sldId id="1049" r:id="rId33"/>
    <p:sldId id="1065" r:id="rId34"/>
    <p:sldId id="1051" r:id="rId35"/>
    <p:sldId id="105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AD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23" autoAdjust="0"/>
    <p:restoredTop sz="96315"/>
  </p:normalViewPr>
  <p:slideViewPr>
    <p:cSldViewPr snapToGrid="0">
      <p:cViewPr varScale="1">
        <p:scale>
          <a:sx n="137" d="100"/>
          <a:sy n="137" d="100"/>
        </p:scale>
        <p:origin x="208" y="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7678A9-7584-4C66-99B2-0C588154BEA5}" type="datetimeFigureOut">
              <a:rPr lang="en-US" smtClean="0"/>
              <a:t>6/23/23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A4F26F-44B8-4A1F-88BA-07A4B5929C10}" type="slidenum">
              <a:rPr lang="en-US" smtClean="0"/>
              <a:t>‹#›</a:t>
            </a:fld>
            <a:endParaRPr lang="en-US"/>
          </a:p>
        </p:txBody>
      </p:sp>
    </p:spTree>
    <p:extLst>
      <p:ext uri="{BB962C8B-B14F-4D97-AF65-F5344CB8AC3E}">
        <p14:creationId xmlns:p14="http://schemas.microsoft.com/office/powerpoint/2010/main" val="2856829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A4F26F-44B8-4A1F-88BA-07A4B5929C10}" type="slidenum">
              <a:rPr lang="en-US" smtClean="0"/>
              <a:t>8</a:t>
            </a:fld>
            <a:endParaRPr lang="en-US"/>
          </a:p>
        </p:txBody>
      </p:sp>
    </p:spTree>
    <p:extLst>
      <p:ext uri="{BB962C8B-B14F-4D97-AF65-F5344CB8AC3E}">
        <p14:creationId xmlns:p14="http://schemas.microsoft.com/office/powerpoint/2010/main" val="4095949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762af77d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1762af77d6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39832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5A15-6E38-4D7E-AC9A-5872846B50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FF20F1-04E4-4880-9693-FFEBB2032E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3F3DDE-A0B0-49BA-8F08-6E4C0D27B496}"/>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5" name="Footer Placeholder 4">
            <a:extLst>
              <a:ext uri="{FF2B5EF4-FFF2-40B4-BE49-F238E27FC236}">
                <a16:creationId xmlns:a16="http://schemas.microsoft.com/office/drawing/2014/main" id="{CCA8B34E-AF9A-43B3-A3B4-73404E9531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BB303-5138-4299-8423-992EAF32AECB}"/>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1370223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76D40-13C7-48EB-A073-9C1737FB8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39D067-3A40-4587-9FA3-D97ACF99A7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CF8A0-F603-4D9A-91CA-FDA9E23958DF}"/>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5" name="Footer Placeholder 4">
            <a:extLst>
              <a:ext uri="{FF2B5EF4-FFF2-40B4-BE49-F238E27FC236}">
                <a16:creationId xmlns:a16="http://schemas.microsoft.com/office/drawing/2014/main" id="{DE6FD87D-A429-4532-900B-CE4122C59C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3B070-1F0E-4F1A-9714-FF7113C1C143}"/>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1343749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3903E-D2F9-4B29-BDD3-1B39226E52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99E038-584F-4372-AD17-F6969ED3C2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BAB3E1-451E-4FCB-9973-C738CE65DC6D}"/>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5" name="Footer Placeholder 4">
            <a:extLst>
              <a:ext uri="{FF2B5EF4-FFF2-40B4-BE49-F238E27FC236}">
                <a16:creationId xmlns:a16="http://schemas.microsoft.com/office/drawing/2014/main" id="{36A2ED59-6AFB-4E2A-A3F0-34A197136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39FC6-37F8-48AD-A326-0BB56F853832}"/>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2175507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7BB2A-5F1F-4C10-8A10-A624B5C236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1F9BD8-0F57-48E4-AB22-211C7537A6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03ED74-59CC-4C37-B3AF-CBDB2C0F18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EF7C42-5900-426F-99C9-924191B63CE4}"/>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6" name="Footer Placeholder 5">
            <a:extLst>
              <a:ext uri="{FF2B5EF4-FFF2-40B4-BE49-F238E27FC236}">
                <a16:creationId xmlns:a16="http://schemas.microsoft.com/office/drawing/2014/main" id="{5D77554D-6735-41EB-840F-DE9591DDCF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865B72-8834-4631-BBC4-0B729771D144}"/>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4065080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E91E8-B52B-4E7D-9EB2-9A05929387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A54FCF-932C-42E9-BAC7-4079DECD51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9F8796-84C9-4045-92DF-182D905545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6C1C21-244A-4F65-B156-9BBAFA674C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02E1FA-3955-4786-88EA-D8A977FE50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B0303E-BA7C-43FA-BA5F-05657A818722}"/>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8" name="Footer Placeholder 7">
            <a:extLst>
              <a:ext uri="{FF2B5EF4-FFF2-40B4-BE49-F238E27FC236}">
                <a16:creationId xmlns:a16="http://schemas.microsoft.com/office/drawing/2014/main" id="{14F2EC16-4213-40D6-B223-1ACDEEECED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AAC7F4-FE6B-45A8-84AE-5EA1201ADC55}"/>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123579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9A989-FC83-40C6-BEB8-95A9F35ADC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71E6BA-85A2-44C6-9E6C-CD1C363245F5}"/>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4" name="Footer Placeholder 3">
            <a:extLst>
              <a:ext uri="{FF2B5EF4-FFF2-40B4-BE49-F238E27FC236}">
                <a16:creationId xmlns:a16="http://schemas.microsoft.com/office/drawing/2014/main" id="{6675C86D-621D-4359-B44F-AB8A764451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056E35-D5A3-4A17-BEDA-C2E22C4A17EA}"/>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1429854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AE897B-40D3-49FB-8BD5-E408F4091819}"/>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3" name="Footer Placeholder 2">
            <a:extLst>
              <a:ext uri="{FF2B5EF4-FFF2-40B4-BE49-F238E27FC236}">
                <a16:creationId xmlns:a16="http://schemas.microsoft.com/office/drawing/2014/main" id="{543DA2B7-2463-4D52-A26D-BCAEC57ED6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968733-D7B7-4A42-B647-B1BA21B5453B}"/>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2989694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9AE76-5A65-454E-A653-8CF8C2AAF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30C9AF-22FC-41EB-B087-878B5C48CB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CB997D-722B-4ED6-AF39-FA3D9FEFAB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736461-48ED-4CA1-8E47-F88F7FDCBC18}"/>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6" name="Footer Placeholder 5">
            <a:extLst>
              <a:ext uri="{FF2B5EF4-FFF2-40B4-BE49-F238E27FC236}">
                <a16:creationId xmlns:a16="http://schemas.microsoft.com/office/drawing/2014/main" id="{2E546AF6-CA8F-4371-AF26-33EEBFF0AC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6031C-5B3C-4610-B4CB-C1B2A311E007}"/>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1982929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73A1E-FDE5-41E3-8B4B-DA399F3459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C2CB61-0EB9-4506-9D69-79FB4AE111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47FFC8-0699-48F6-B809-E46456A24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7A321D-8F8B-43F5-B347-68F106C0BF64}"/>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6" name="Footer Placeholder 5">
            <a:extLst>
              <a:ext uri="{FF2B5EF4-FFF2-40B4-BE49-F238E27FC236}">
                <a16:creationId xmlns:a16="http://schemas.microsoft.com/office/drawing/2014/main" id="{013EC817-CB26-4940-A17C-85FA1595AB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B6991A-CC4D-481E-94AC-C806DE6A1769}"/>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505281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203DD-0FDB-4975-BB62-765E054C2B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590873-75C0-46D2-BB41-9FC068ED51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33D809-5AEE-4878-B10D-EC298032A4D6}"/>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5" name="Footer Placeholder 4">
            <a:extLst>
              <a:ext uri="{FF2B5EF4-FFF2-40B4-BE49-F238E27FC236}">
                <a16:creationId xmlns:a16="http://schemas.microsoft.com/office/drawing/2014/main" id="{9C6A465D-FC81-4118-A2B4-A2D48F6550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E53547-B9D8-46DE-92AB-80F24FCC9689}"/>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1575322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4E697A-86F7-4BC6-B70F-2121A6E048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AD7B6F-2BBA-44BB-8489-441F00546A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D38FC8-554A-4FF0-9365-FAC15A227107}"/>
              </a:ext>
            </a:extLst>
          </p:cNvPr>
          <p:cNvSpPr>
            <a:spLocks noGrp="1"/>
          </p:cNvSpPr>
          <p:nvPr>
            <p:ph type="dt" sz="half" idx="10"/>
          </p:nvPr>
        </p:nvSpPr>
        <p:spPr/>
        <p:txBody>
          <a:bodyPr/>
          <a:lstStyle/>
          <a:p>
            <a:fld id="{0A310F8C-D908-4A29-9D24-38C22874A355}" type="datetimeFigureOut">
              <a:rPr lang="en-US" smtClean="0"/>
              <a:t>6/23/23</a:t>
            </a:fld>
            <a:endParaRPr lang="en-US"/>
          </a:p>
        </p:txBody>
      </p:sp>
      <p:sp>
        <p:nvSpPr>
          <p:cNvPr id="5" name="Footer Placeholder 4">
            <a:extLst>
              <a:ext uri="{FF2B5EF4-FFF2-40B4-BE49-F238E27FC236}">
                <a16:creationId xmlns:a16="http://schemas.microsoft.com/office/drawing/2014/main" id="{B4C49DD3-3F05-4BBE-BE09-7FAC8A1387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D4807F-F733-46F5-9827-3C3EA4B88D90}"/>
              </a:ext>
            </a:extLst>
          </p:cNvPr>
          <p:cNvSpPr>
            <a:spLocks noGrp="1"/>
          </p:cNvSpPr>
          <p:nvPr>
            <p:ph type="sldNum" sz="quarter" idx="12"/>
          </p:nvPr>
        </p:nvSpPr>
        <p:spPr/>
        <p:txBody>
          <a:bodyPr/>
          <a:lstStyle/>
          <a:p>
            <a:fld id="{7EAFD4F9-DA65-4057-B9C5-7DB1B406DBFE}" type="slidenum">
              <a:rPr lang="en-US" smtClean="0"/>
              <a:t>‹#›</a:t>
            </a:fld>
            <a:endParaRPr lang="en-US"/>
          </a:p>
        </p:txBody>
      </p:sp>
    </p:spTree>
    <p:extLst>
      <p:ext uri="{BB962C8B-B14F-4D97-AF65-F5344CB8AC3E}">
        <p14:creationId xmlns:p14="http://schemas.microsoft.com/office/powerpoint/2010/main" val="2183383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with Picture">
    <p:spTree>
      <p:nvGrpSpPr>
        <p:cNvPr id="1" name=""/>
        <p:cNvGrpSpPr/>
        <p:nvPr/>
      </p:nvGrpSpPr>
      <p:grpSpPr>
        <a:xfrm>
          <a:off x="0" y="0"/>
          <a:ext cx="0" cy="0"/>
          <a:chOff x="0" y="0"/>
          <a:chExt cx="0" cy="0"/>
        </a:xfrm>
      </p:grpSpPr>
      <p:pic>
        <p:nvPicPr>
          <p:cNvPr id="20" name="Picture 19" descr="gettyimages-830343990-2048x2048.psd"/>
          <p:cNvPicPr>
            <a:picLocks noChangeAspect="1"/>
          </p:cNvPicPr>
          <p:nvPr userDrawn="1"/>
        </p:nvPicPr>
        <p:blipFill rotWithShape="1">
          <a:blip r:embed="rId2">
            <a:extLst>
              <a:ext uri="{28A0092B-C50C-407E-A947-70E740481C1C}">
                <a14:useLocalDpi xmlns:a14="http://schemas.microsoft.com/office/drawing/2010/main" val="0"/>
              </a:ext>
            </a:extLst>
          </a:blip>
          <a:srcRect l="24084" t="29707" r="13433" b="-1"/>
          <a:stretch/>
        </p:blipFill>
        <p:spPr>
          <a:xfrm>
            <a:off x="0" y="0"/>
            <a:ext cx="12192000" cy="6858000"/>
          </a:xfrm>
          <a:prstGeom prst="rect">
            <a:avLst/>
          </a:prstGeom>
        </p:spPr>
      </p:pic>
      <p:sp>
        <p:nvSpPr>
          <p:cNvPr id="2" name="Title 1"/>
          <p:cNvSpPr>
            <a:spLocks noGrp="1"/>
          </p:cNvSpPr>
          <p:nvPr>
            <p:ph type="ctrTitle"/>
          </p:nvPr>
        </p:nvSpPr>
        <p:spPr>
          <a:xfrm>
            <a:off x="914401" y="1936353"/>
            <a:ext cx="7613843" cy="2278912"/>
          </a:xfrm>
          <a:prstGeom prst="rect">
            <a:avLst/>
          </a:prstGeom>
        </p:spPr>
        <p:txBody>
          <a:bodyPr lIns="0" tIns="0" rIns="0" bIns="0" anchor="t" anchorCtr="0">
            <a:noAutofit/>
          </a:bodyPr>
          <a:lstStyle>
            <a:lvl1pPr algn="l">
              <a:lnSpc>
                <a:spcPct val="70000"/>
              </a:lnSpc>
              <a:defRPr sz="7333">
                <a:solidFill>
                  <a:srgbClr val="059EC1"/>
                </a:solidFill>
              </a:defRPr>
            </a:lvl1pPr>
          </a:lstStyle>
          <a:p>
            <a:r>
              <a:rPr lang="en-US" dirty="0"/>
              <a:t>Click to edit Master title style</a:t>
            </a:r>
          </a:p>
        </p:txBody>
      </p:sp>
      <p:sp>
        <p:nvSpPr>
          <p:cNvPr id="3" name="Subtitle 2"/>
          <p:cNvSpPr>
            <a:spLocks noGrp="1"/>
          </p:cNvSpPr>
          <p:nvPr>
            <p:ph type="subTitle" idx="1"/>
          </p:nvPr>
        </p:nvSpPr>
        <p:spPr>
          <a:xfrm>
            <a:off x="914402" y="3634138"/>
            <a:ext cx="6700469" cy="987777"/>
          </a:xfrm>
          <a:prstGeom prst="rect">
            <a:avLst/>
          </a:prstGeom>
        </p:spPr>
        <p:txBody>
          <a:bodyPr lIns="0" tIns="0" rIns="0" bIns="0" anchor="t" anchorCtr="0">
            <a:noAutofit/>
          </a:bodyPr>
          <a:lstStyle>
            <a:lvl1pPr marL="0" indent="0" algn="l">
              <a:lnSpc>
                <a:spcPct val="90000"/>
              </a:lnSpc>
              <a:buNone/>
              <a:defRPr sz="2400">
                <a:solidFill>
                  <a:srgbClr val="059EC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9" name="Picture 8" descr="SignatureMD_logo_horizontal_rgb_full color_no tag.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403" y="1086333"/>
            <a:ext cx="2441477" cy="526676"/>
          </a:xfrm>
          <a:prstGeom prst="rect">
            <a:avLst/>
          </a:prstGeom>
        </p:spPr>
      </p:pic>
      <p:pic>
        <p:nvPicPr>
          <p:cNvPr id="11" name="Picture 10" descr="smd-pattern_black_bottom-right.pdf"/>
          <p:cNvPicPr>
            <a:picLocks noChangeAspect="1"/>
          </p:cNvPicPr>
          <p:nvPr userDrawn="1"/>
        </p:nvPicPr>
        <p:blipFill>
          <a:blip r:embed="rId4">
            <a:alphaModFix amt="26000"/>
            <a:extLst>
              <a:ext uri="{28A0092B-C50C-407E-A947-70E740481C1C}">
                <a14:useLocalDpi xmlns:a14="http://schemas.microsoft.com/office/drawing/2010/main" val="0"/>
              </a:ext>
            </a:extLst>
          </a:blip>
          <a:stretch>
            <a:fillRect/>
          </a:stretch>
        </p:blipFill>
        <p:spPr>
          <a:xfrm>
            <a:off x="8046720" y="4199507"/>
            <a:ext cx="4145280" cy="2658493"/>
          </a:xfrm>
          <a:prstGeom prst="rect">
            <a:avLst/>
          </a:prstGeom>
        </p:spPr>
      </p:pic>
    </p:spTree>
    <p:extLst>
      <p:ext uri="{BB962C8B-B14F-4D97-AF65-F5344CB8AC3E}">
        <p14:creationId xmlns:p14="http://schemas.microsoft.com/office/powerpoint/2010/main" val="15237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1936353"/>
            <a:ext cx="8830911" cy="2278912"/>
          </a:xfrm>
          <a:prstGeom prst="rect">
            <a:avLst/>
          </a:prstGeom>
        </p:spPr>
        <p:txBody>
          <a:bodyPr lIns="0" tIns="0" rIns="0" bIns="0" anchor="t" anchorCtr="0">
            <a:noAutofit/>
          </a:bodyPr>
          <a:lstStyle>
            <a:lvl1pPr algn="l">
              <a:lnSpc>
                <a:spcPct val="70000"/>
              </a:lnSpc>
              <a:defRPr sz="9333">
                <a:solidFill>
                  <a:srgbClr val="059EC1"/>
                </a:solidFill>
              </a:defRPr>
            </a:lvl1pPr>
          </a:lstStyle>
          <a:p>
            <a:r>
              <a:rPr lang="en-US" dirty="0"/>
              <a:t>Click to edit Master title style</a:t>
            </a:r>
          </a:p>
        </p:txBody>
      </p:sp>
      <p:sp>
        <p:nvSpPr>
          <p:cNvPr id="3" name="Subtitle 2"/>
          <p:cNvSpPr>
            <a:spLocks noGrp="1"/>
          </p:cNvSpPr>
          <p:nvPr>
            <p:ph type="subTitle" idx="1"/>
          </p:nvPr>
        </p:nvSpPr>
        <p:spPr>
          <a:xfrm>
            <a:off x="914402" y="4072317"/>
            <a:ext cx="6700469" cy="987777"/>
          </a:xfrm>
          <a:prstGeom prst="rect">
            <a:avLst/>
          </a:prstGeom>
        </p:spPr>
        <p:txBody>
          <a:bodyPr lIns="0" tIns="0" rIns="0" bIns="0" anchor="t" anchorCtr="0">
            <a:noAutofit/>
          </a:bodyPr>
          <a:lstStyle>
            <a:lvl1pPr marL="0" indent="0" algn="l">
              <a:lnSpc>
                <a:spcPct val="90000"/>
              </a:lnSpc>
              <a:buNone/>
              <a:defRPr sz="2400">
                <a:solidFill>
                  <a:srgbClr val="059EC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9" name="Picture 8" descr="SignatureMD_logo_horizontal_rgb_full color_no tag.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403" y="1086333"/>
            <a:ext cx="2441477" cy="526676"/>
          </a:xfrm>
          <a:prstGeom prst="rect">
            <a:avLst/>
          </a:prstGeom>
        </p:spPr>
      </p:pic>
      <p:pic>
        <p:nvPicPr>
          <p:cNvPr id="11" name="Picture 10" descr="smd-pattern_black_bottom-right.pdf"/>
          <p:cNvPicPr>
            <a:picLocks noChangeAspect="1"/>
          </p:cNvPicPr>
          <p:nvPr userDrawn="1"/>
        </p:nvPicPr>
        <p:blipFill>
          <a:blip r:embed="rId3">
            <a:alphaModFix amt="26000"/>
            <a:extLst>
              <a:ext uri="{28A0092B-C50C-407E-A947-70E740481C1C}">
                <a14:useLocalDpi xmlns:a14="http://schemas.microsoft.com/office/drawing/2010/main" val="0"/>
              </a:ext>
            </a:extLst>
          </a:blip>
          <a:stretch>
            <a:fillRect/>
          </a:stretch>
        </p:blipFill>
        <p:spPr>
          <a:xfrm>
            <a:off x="8046720" y="4199507"/>
            <a:ext cx="4145280" cy="2658493"/>
          </a:xfrm>
          <a:prstGeom prst="rect">
            <a:avLst/>
          </a:prstGeom>
        </p:spPr>
      </p:pic>
    </p:spTree>
    <p:extLst>
      <p:ext uri="{BB962C8B-B14F-4D97-AF65-F5344CB8AC3E}">
        <p14:creationId xmlns:p14="http://schemas.microsoft.com/office/powerpoint/2010/main" val="1802206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ext">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76725"/>
            <a:ext cx="10363200" cy="1470025"/>
          </a:xfrm>
          <a:prstGeom prst="rect">
            <a:avLst/>
          </a:prstGeom>
        </p:spPr>
        <p:txBody>
          <a:bodyPr lIns="0" tIns="0" rIns="0" bIns="0" anchor="t" anchorCtr="0">
            <a:noAutofit/>
          </a:bodyPr>
          <a:lstStyle>
            <a:lvl1pPr algn="l">
              <a:lnSpc>
                <a:spcPct val="80000"/>
              </a:lnSpc>
              <a:defRPr sz="4667">
                <a:solidFill>
                  <a:srgbClr val="059EC1"/>
                </a:solidFill>
              </a:defRPr>
            </a:lvl1pPr>
          </a:lstStyle>
          <a:p>
            <a:r>
              <a:rPr lang="en-US" dirty="0"/>
              <a:t>Click to edit Master title style</a:t>
            </a:r>
          </a:p>
        </p:txBody>
      </p:sp>
      <p:sp>
        <p:nvSpPr>
          <p:cNvPr id="3" name="Subtitle 2"/>
          <p:cNvSpPr>
            <a:spLocks noGrp="1"/>
          </p:cNvSpPr>
          <p:nvPr>
            <p:ph type="subTitle" idx="1"/>
          </p:nvPr>
        </p:nvSpPr>
        <p:spPr>
          <a:xfrm>
            <a:off x="914400" y="2598305"/>
            <a:ext cx="6700469" cy="3292443"/>
          </a:xfrm>
          <a:prstGeom prst="rect">
            <a:avLst/>
          </a:prstGeom>
        </p:spPr>
        <p:txBody>
          <a:bodyPr lIns="0" tIns="0" rIns="0" bIns="0" anchor="t" anchorCtr="0">
            <a:noAutofit/>
          </a:bodyPr>
          <a:lstStyle>
            <a:lvl1pPr marL="0" indent="0" algn="l">
              <a:lnSpc>
                <a:spcPct val="90000"/>
              </a:lnSpc>
              <a:buNone/>
              <a:defRPr sz="1867">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a:xfrm>
            <a:off x="8737600" y="6285798"/>
            <a:ext cx="2844800" cy="365125"/>
          </a:xfrm>
        </p:spPr>
        <p:txBody>
          <a:bodyPr lIns="0" tIns="0" rIns="0" bIns="0"/>
          <a:lstStyle>
            <a:lvl1pPr>
              <a:defRPr sz="1333">
                <a:solidFill>
                  <a:schemeClr val="tx1"/>
                </a:solidFill>
              </a:defRPr>
            </a:lvl1pPr>
          </a:lstStyle>
          <a:p>
            <a:fld id="{AF88E988-FB04-AB4E-BE5A-59F242AF7F7A}" type="slidenum">
              <a:rPr lang="en-US" smtClean="0"/>
              <a:pPr/>
              <a:t>‹#›</a:t>
            </a:fld>
            <a:endParaRPr lang="en-US"/>
          </a:p>
        </p:txBody>
      </p:sp>
      <p:pic>
        <p:nvPicPr>
          <p:cNvPr id="8" name="Picture 7" descr="SignatureMD_logo_horizontal_rgb_full color_no tag.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401" y="6285797"/>
            <a:ext cx="1695529" cy="365760"/>
          </a:xfrm>
          <a:prstGeom prst="rect">
            <a:avLst/>
          </a:prstGeom>
        </p:spPr>
      </p:pic>
    </p:spTree>
    <p:extLst>
      <p:ext uri="{BB962C8B-B14F-4D97-AF65-F5344CB8AC3E}">
        <p14:creationId xmlns:p14="http://schemas.microsoft.com/office/powerpoint/2010/main" val="8436313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Bullets">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76725"/>
            <a:ext cx="10363200" cy="1470025"/>
          </a:xfrm>
          <a:prstGeom prst="rect">
            <a:avLst/>
          </a:prstGeom>
        </p:spPr>
        <p:txBody>
          <a:bodyPr lIns="0" tIns="0" rIns="0" bIns="0" anchor="t" anchorCtr="0">
            <a:noAutofit/>
          </a:bodyPr>
          <a:lstStyle>
            <a:lvl1pPr algn="l">
              <a:lnSpc>
                <a:spcPct val="80000"/>
              </a:lnSpc>
              <a:defRPr sz="4667">
                <a:solidFill>
                  <a:srgbClr val="059EC1"/>
                </a:solidFill>
              </a:defRPr>
            </a:lvl1pPr>
          </a:lstStyle>
          <a:p>
            <a:r>
              <a:rPr lang="en-US" dirty="0"/>
              <a:t>Click to edit Master title style</a:t>
            </a:r>
          </a:p>
        </p:txBody>
      </p:sp>
      <p:sp>
        <p:nvSpPr>
          <p:cNvPr id="3" name="Subtitle 2"/>
          <p:cNvSpPr>
            <a:spLocks noGrp="1"/>
          </p:cNvSpPr>
          <p:nvPr>
            <p:ph type="subTitle" idx="1"/>
          </p:nvPr>
        </p:nvSpPr>
        <p:spPr>
          <a:xfrm>
            <a:off x="914400" y="2598305"/>
            <a:ext cx="6700469" cy="3292443"/>
          </a:xfrm>
          <a:prstGeom prst="rect">
            <a:avLst/>
          </a:prstGeom>
        </p:spPr>
        <p:txBody>
          <a:bodyPr lIns="0" tIns="0" rIns="0" bIns="0" anchor="t" anchorCtr="0">
            <a:noAutofit/>
          </a:bodyPr>
          <a:lstStyle>
            <a:lvl1pPr marL="243834" indent="-243834" algn="l">
              <a:lnSpc>
                <a:spcPct val="90000"/>
              </a:lnSpc>
              <a:spcBef>
                <a:spcPts val="0"/>
              </a:spcBef>
              <a:spcAft>
                <a:spcPts val="1067"/>
              </a:spcAft>
              <a:buFont typeface="Arial"/>
              <a:buChar char="•"/>
              <a:defRPr sz="1867">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a:xfrm>
            <a:off x="8737600" y="6285798"/>
            <a:ext cx="2844800" cy="365125"/>
          </a:xfrm>
        </p:spPr>
        <p:txBody>
          <a:bodyPr lIns="0" tIns="0" rIns="0" bIns="0"/>
          <a:lstStyle>
            <a:lvl1pPr>
              <a:defRPr sz="1333">
                <a:solidFill>
                  <a:schemeClr val="tx1"/>
                </a:solidFill>
              </a:defRPr>
            </a:lvl1pPr>
          </a:lstStyle>
          <a:p>
            <a:fld id="{AF88E988-FB04-AB4E-BE5A-59F242AF7F7A}" type="slidenum">
              <a:rPr lang="en-US" smtClean="0"/>
              <a:pPr/>
              <a:t>‹#›</a:t>
            </a:fld>
            <a:endParaRPr lang="en-US"/>
          </a:p>
        </p:txBody>
      </p:sp>
      <p:pic>
        <p:nvPicPr>
          <p:cNvPr id="8" name="Picture 7" descr="SignatureMD_logo_horizontal_rgb_full color_no tag.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401" y="6285797"/>
            <a:ext cx="1695529" cy="365760"/>
          </a:xfrm>
          <a:prstGeom prst="rect">
            <a:avLst/>
          </a:prstGeom>
        </p:spPr>
      </p:pic>
    </p:spTree>
    <p:extLst>
      <p:ext uri="{BB962C8B-B14F-4D97-AF65-F5344CB8AC3E}">
        <p14:creationId xmlns:p14="http://schemas.microsoft.com/office/powerpoint/2010/main" val="218817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ext with Chart">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76725"/>
            <a:ext cx="10363200" cy="1470025"/>
          </a:xfrm>
          <a:prstGeom prst="rect">
            <a:avLst/>
          </a:prstGeom>
        </p:spPr>
        <p:txBody>
          <a:bodyPr lIns="0" tIns="0" rIns="0" bIns="0" anchor="t" anchorCtr="0">
            <a:noAutofit/>
          </a:bodyPr>
          <a:lstStyle>
            <a:lvl1pPr algn="l">
              <a:lnSpc>
                <a:spcPct val="80000"/>
              </a:lnSpc>
              <a:defRPr sz="4667">
                <a:solidFill>
                  <a:srgbClr val="059EC1"/>
                </a:solidFill>
              </a:defRPr>
            </a:lvl1pPr>
          </a:lstStyle>
          <a:p>
            <a:r>
              <a:rPr lang="en-US" dirty="0"/>
              <a:t>Click to edit Master title style</a:t>
            </a:r>
          </a:p>
        </p:txBody>
      </p:sp>
      <p:sp>
        <p:nvSpPr>
          <p:cNvPr id="3" name="Subtitle 2"/>
          <p:cNvSpPr>
            <a:spLocks noGrp="1"/>
          </p:cNvSpPr>
          <p:nvPr>
            <p:ph type="subTitle" idx="1"/>
          </p:nvPr>
        </p:nvSpPr>
        <p:spPr>
          <a:xfrm>
            <a:off x="914400" y="2598305"/>
            <a:ext cx="4715933" cy="3292443"/>
          </a:xfrm>
          <a:prstGeom prst="rect">
            <a:avLst/>
          </a:prstGeom>
        </p:spPr>
        <p:txBody>
          <a:bodyPr lIns="0" tIns="0" rIns="0" bIns="0" anchor="t" anchorCtr="0">
            <a:noAutofit/>
          </a:bodyPr>
          <a:lstStyle>
            <a:lvl1pPr marL="0" indent="0" algn="l">
              <a:lnSpc>
                <a:spcPct val="90000"/>
              </a:lnSpc>
              <a:buNone/>
              <a:defRPr sz="1867">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a:xfrm>
            <a:off x="8737600" y="6285798"/>
            <a:ext cx="2844800" cy="365125"/>
          </a:xfrm>
        </p:spPr>
        <p:txBody>
          <a:bodyPr lIns="0" tIns="0" rIns="0" bIns="0"/>
          <a:lstStyle>
            <a:lvl1pPr>
              <a:defRPr sz="1333">
                <a:solidFill>
                  <a:schemeClr val="tx1"/>
                </a:solidFill>
              </a:defRPr>
            </a:lvl1pPr>
          </a:lstStyle>
          <a:p>
            <a:fld id="{AF88E988-FB04-AB4E-BE5A-59F242AF7F7A}" type="slidenum">
              <a:rPr lang="en-US" smtClean="0"/>
              <a:pPr/>
              <a:t>‹#›</a:t>
            </a:fld>
            <a:endParaRPr lang="en-US"/>
          </a:p>
        </p:txBody>
      </p:sp>
      <p:pic>
        <p:nvPicPr>
          <p:cNvPr id="8" name="Picture 7" descr="SignatureMD_logo_horizontal_rgb_full color_no tag.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401" y="6285797"/>
            <a:ext cx="1695529" cy="365760"/>
          </a:xfrm>
          <a:prstGeom prst="rect">
            <a:avLst/>
          </a:prstGeom>
        </p:spPr>
      </p:pic>
    </p:spTree>
    <p:extLst>
      <p:ext uri="{BB962C8B-B14F-4D97-AF65-F5344CB8AC3E}">
        <p14:creationId xmlns:p14="http://schemas.microsoft.com/office/powerpoint/2010/main" val="91480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76725"/>
            <a:ext cx="10363200" cy="1470025"/>
          </a:xfrm>
          <a:prstGeom prst="rect">
            <a:avLst/>
          </a:prstGeom>
        </p:spPr>
        <p:txBody>
          <a:bodyPr lIns="0" tIns="0" rIns="0" bIns="0" anchor="t" anchorCtr="0">
            <a:noAutofit/>
          </a:bodyPr>
          <a:lstStyle>
            <a:lvl1pPr algn="l">
              <a:lnSpc>
                <a:spcPct val="80000"/>
              </a:lnSpc>
              <a:defRPr sz="4667">
                <a:solidFill>
                  <a:srgbClr val="059EC1"/>
                </a:solidFill>
              </a:defRPr>
            </a:lvl1pPr>
          </a:lstStyle>
          <a:p>
            <a:r>
              <a:rPr lang="en-US" dirty="0"/>
              <a:t>Click to edit Master title style</a:t>
            </a:r>
          </a:p>
        </p:txBody>
      </p:sp>
      <p:sp>
        <p:nvSpPr>
          <p:cNvPr id="6" name="Slide Number Placeholder 5"/>
          <p:cNvSpPr>
            <a:spLocks noGrp="1"/>
          </p:cNvSpPr>
          <p:nvPr>
            <p:ph type="sldNum" sz="quarter" idx="12"/>
          </p:nvPr>
        </p:nvSpPr>
        <p:spPr>
          <a:xfrm>
            <a:off x="8737600" y="6285798"/>
            <a:ext cx="2844800" cy="365125"/>
          </a:xfrm>
        </p:spPr>
        <p:txBody>
          <a:bodyPr lIns="0" tIns="0" rIns="0" bIns="0"/>
          <a:lstStyle>
            <a:lvl1pPr>
              <a:defRPr sz="1333">
                <a:solidFill>
                  <a:schemeClr val="tx1"/>
                </a:solidFill>
              </a:defRPr>
            </a:lvl1pPr>
          </a:lstStyle>
          <a:p>
            <a:fld id="{AF88E988-FB04-AB4E-BE5A-59F242AF7F7A}" type="slidenum">
              <a:rPr lang="en-US" smtClean="0"/>
              <a:pPr/>
              <a:t>‹#›</a:t>
            </a:fld>
            <a:endParaRPr lang="en-US"/>
          </a:p>
        </p:txBody>
      </p:sp>
      <p:pic>
        <p:nvPicPr>
          <p:cNvPr id="8" name="Picture 7" descr="SignatureMD_logo_horizontal_rgb_full color_no tag.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401" y="6285797"/>
            <a:ext cx="1695529" cy="365760"/>
          </a:xfrm>
          <a:prstGeom prst="rect">
            <a:avLst/>
          </a:prstGeom>
        </p:spPr>
      </p:pic>
    </p:spTree>
    <p:extLst>
      <p:ext uri="{BB962C8B-B14F-4D97-AF65-F5344CB8AC3E}">
        <p14:creationId xmlns:p14="http://schemas.microsoft.com/office/powerpoint/2010/main" val="3232781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Section">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rgbClr val="059EC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2400">
              <a:solidFill>
                <a:srgbClr val="FFFFFF"/>
              </a:solidFill>
            </a:endParaRPr>
          </a:p>
        </p:txBody>
      </p:sp>
      <p:pic>
        <p:nvPicPr>
          <p:cNvPr id="4" name="Picture 3" descr="smd-pattern_white_bottom-right.pdf"/>
          <p:cNvPicPr>
            <a:picLocks noChangeAspect="1"/>
          </p:cNvPicPr>
          <p:nvPr userDrawn="1"/>
        </p:nvPicPr>
        <p:blipFill rotWithShape="1">
          <a:blip r:embed="rId2">
            <a:extLst>
              <a:ext uri="{28A0092B-C50C-407E-A947-70E740481C1C}">
                <a14:useLocalDpi xmlns:a14="http://schemas.microsoft.com/office/drawing/2010/main" val="0"/>
              </a:ext>
            </a:extLst>
          </a:blip>
          <a:srcRect r="16913" b="45379"/>
          <a:stretch/>
        </p:blipFill>
        <p:spPr>
          <a:xfrm flipH="1">
            <a:off x="-1" y="3112077"/>
            <a:ext cx="9125129" cy="3745923"/>
          </a:xfrm>
          <a:prstGeom prst="rect">
            <a:avLst/>
          </a:prstGeom>
        </p:spPr>
      </p:pic>
      <p:sp>
        <p:nvSpPr>
          <p:cNvPr id="2" name="Title 1"/>
          <p:cNvSpPr>
            <a:spLocks noGrp="1"/>
          </p:cNvSpPr>
          <p:nvPr>
            <p:ph type="ctrTitle"/>
          </p:nvPr>
        </p:nvSpPr>
        <p:spPr>
          <a:xfrm>
            <a:off x="914400" y="1876132"/>
            <a:ext cx="10363200" cy="990277"/>
          </a:xfrm>
          <a:prstGeom prst="rect">
            <a:avLst/>
          </a:prstGeom>
        </p:spPr>
        <p:txBody>
          <a:bodyPr lIns="0" tIns="0" rIns="0" bIns="0" anchor="t" anchorCtr="0">
            <a:noAutofit/>
          </a:bodyPr>
          <a:lstStyle>
            <a:lvl1pPr algn="l">
              <a:lnSpc>
                <a:spcPct val="80000"/>
              </a:lnSpc>
              <a:defRPr sz="4667">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914400" y="2866408"/>
            <a:ext cx="6700469" cy="1239917"/>
          </a:xfrm>
          <a:prstGeom prst="rect">
            <a:avLst/>
          </a:prstGeom>
        </p:spPr>
        <p:txBody>
          <a:bodyPr lIns="0" tIns="0" rIns="0" bIns="0" anchor="t" anchorCtr="0">
            <a:noAutofit/>
          </a:bodyPr>
          <a:lstStyle>
            <a:lvl1pPr marL="0" indent="0" algn="l">
              <a:lnSpc>
                <a:spcPct val="90000"/>
              </a:lnSpc>
              <a:spcBef>
                <a:spcPts val="0"/>
              </a:spcBef>
              <a:spcAft>
                <a:spcPts val="1600"/>
              </a:spcAft>
              <a:buFont typeface="Arial"/>
              <a:buNone/>
              <a:defRPr sz="2400">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a:xfrm>
            <a:off x="8737600" y="6285798"/>
            <a:ext cx="2844800" cy="365125"/>
          </a:xfrm>
        </p:spPr>
        <p:txBody>
          <a:bodyPr lIns="0" tIns="0" rIns="0" bIns="0"/>
          <a:lstStyle>
            <a:lvl1pPr>
              <a:defRPr sz="1333">
                <a:solidFill>
                  <a:srgbClr val="FFFFFF"/>
                </a:solidFill>
              </a:defRPr>
            </a:lvl1pPr>
          </a:lstStyle>
          <a:p>
            <a:fld id="{AF88E988-FB04-AB4E-BE5A-59F242AF7F7A}" type="slidenum">
              <a:rPr lang="en-US" smtClean="0"/>
              <a:pPr/>
              <a:t>‹#›</a:t>
            </a:fld>
            <a:endParaRPr lang="en-US" dirty="0"/>
          </a:p>
        </p:txBody>
      </p:sp>
    </p:spTree>
    <p:extLst>
      <p:ext uri="{BB962C8B-B14F-4D97-AF65-F5344CB8AC3E}">
        <p14:creationId xmlns:p14="http://schemas.microsoft.com/office/powerpoint/2010/main" val="737468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rgbClr val="059EC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sz="2400">
              <a:solidFill>
                <a:srgbClr val="FFFFFF"/>
              </a:solidFill>
            </a:endParaRPr>
          </a:p>
        </p:txBody>
      </p:sp>
      <p:sp>
        <p:nvSpPr>
          <p:cNvPr id="8" name="Title 1"/>
          <p:cNvSpPr>
            <a:spLocks noGrp="1"/>
          </p:cNvSpPr>
          <p:nvPr>
            <p:ph type="ctrTitle" hasCustomPrompt="1"/>
          </p:nvPr>
        </p:nvSpPr>
        <p:spPr>
          <a:xfrm>
            <a:off x="914401" y="2173207"/>
            <a:ext cx="7613843" cy="2278912"/>
          </a:xfrm>
          <a:prstGeom prst="rect">
            <a:avLst/>
          </a:prstGeom>
        </p:spPr>
        <p:txBody>
          <a:bodyPr lIns="0" tIns="0" rIns="0" bIns="0" anchor="t" anchorCtr="0">
            <a:noAutofit/>
          </a:bodyPr>
          <a:lstStyle>
            <a:lvl1pPr algn="l">
              <a:lnSpc>
                <a:spcPct val="80000"/>
              </a:lnSpc>
              <a:defRPr sz="6000">
                <a:solidFill>
                  <a:schemeClr val="bg1"/>
                </a:solidFill>
              </a:defRPr>
            </a:lvl1pPr>
          </a:lstStyle>
          <a:p>
            <a:r>
              <a:rPr lang="en-US" dirty="0"/>
              <a:t>Thank you</a:t>
            </a:r>
          </a:p>
        </p:txBody>
      </p:sp>
      <p:pic>
        <p:nvPicPr>
          <p:cNvPr id="5" name="Picture 4" descr="SignatureMD_logo_horizontal_rgb_white_no tag.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402" y="1431840"/>
            <a:ext cx="2435613" cy="536448"/>
          </a:xfrm>
          <a:prstGeom prst="rect">
            <a:avLst/>
          </a:prstGeom>
        </p:spPr>
      </p:pic>
      <p:pic>
        <p:nvPicPr>
          <p:cNvPr id="10" name="Picture 9" descr="smd-pattern_white_bottom-right.pdf"/>
          <p:cNvPicPr>
            <a:picLocks noChangeAspect="1"/>
          </p:cNvPicPr>
          <p:nvPr userDrawn="1"/>
        </p:nvPicPr>
        <p:blipFill rotWithShape="1">
          <a:blip r:embed="rId3">
            <a:extLst>
              <a:ext uri="{28A0092B-C50C-407E-A947-70E740481C1C}">
                <a14:useLocalDpi xmlns:a14="http://schemas.microsoft.com/office/drawing/2010/main" val="0"/>
              </a:ext>
            </a:extLst>
          </a:blip>
          <a:srcRect r="16913" b="45379"/>
          <a:stretch/>
        </p:blipFill>
        <p:spPr>
          <a:xfrm>
            <a:off x="3066872" y="3112077"/>
            <a:ext cx="9125129" cy="3745923"/>
          </a:xfrm>
          <a:prstGeom prst="rect">
            <a:avLst/>
          </a:prstGeom>
        </p:spPr>
      </p:pic>
    </p:spTree>
    <p:extLst>
      <p:ext uri="{BB962C8B-B14F-4D97-AF65-F5344CB8AC3E}">
        <p14:creationId xmlns:p14="http://schemas.microsoft.com/office/powerpoint/2010/main" val="3210826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C7D89C-E738-47D3-92C9-4BA809BD1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9B9229-1897-47F4-8B75-34C0E62F79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7170F0-C348-431B-81CE-D736A26D63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310F8C-D908-4A29-9D24-38C22874A355}" type="datetimeFigureOut">
              <a:rPr lang="en-US" smtClean="0"/>
              <a:t>6/23/23</a:t>
            </a:fld>
            <a:endParaRPr lang="en-US"/>
          </a:p>
        </p:txBody>
      </p:sp>
      <p:sp>
        <p:nvSpPr>
          <p:cNvPr id="5" name="Footer Placeholder 4">
            <a:extLst>
              <a:ext uri="{FF2B5EF4-FFF2-40B4-BE49-F238E27FC236}">
                <a16:creationId xmlns:a16="http://schemas.microsoft.com/office/drawing/2014/main" id="{7216E61A-6F88-4E60-A5C4-DDBD30F51B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50108BA-C2CF-4685-A619-605886ECC4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AFD4F9-DA65-4057-B9C5-7DB1B406DBFE}" type="slidenum">
              <a:rPr lang="en-US" smtClean="0"/>
              <a:t>‹#›</a:t>
            </a:fld>
            <a:endParaRPr lang="en-US"/>
          </a:p>
        </p:txBody>
      </p:sp>
    </p:spTree>
    <p:extLst>
      <p:ext uri="{BB962C8B-B14F-4D97-AF65-F5344CB8AC3E}">
        <p14:creationId xmlns:p14="http://schemas.microsoft.com/office/powerpoint/2010/main" val="3879397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285798"/>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066355A-084C-D24E-9AD2-7E4FC41EA627}" type="slidenum">
              <a:rPr lang="en-US" smtClean="0"/>
              <a:t>‹#›</a:t>
            </a:fld>
            <a:endParaRPr lang="en-US"/>
          </a:p>
        </p:txBody>
      </p:sp>
    </p:spTree>
    <p:extLst>
      <p:ext uri="{BB962C8B-B14F-4D97-AF65-F5344CB8AC3E}">
        <p14:creationId xmlns:p14="http://schemas.microsoft.com/office/powerpoint/2010/main" val="216857386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Lst>
  <p:hf hdr="0" ft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1" y="1936353"/>
            <a:ext cx="7613843" cy="2278912"/>
          </a:xfrm>
        </p:spPr>
        <p:txBody>
          <a:bodyPr anchor="t">
            <a:normAutofit/>
          </a:bodyPr>
          <a:lstStyle/>
          <a:p>
            <a:r>
              <a:rPr lang="en-US" dirty="0"/>
              <a:t>National Sales Meeting </a:t>
            </a:r>
          </a:p>
        </p:txBody>
      </p:sp>
      <p:sp>
        <p:nvSpPr>
          <p:cNvPr id="9" name="Subtitle 2">
            <a:extLst>
              <a:ext uri="{FF2B5EF4-FFF2-40B4-BE49-F238E27FC236}">
                <a16:creationId xmlns:a16="http://schemas.microsoft.com/office/drawing/2014/main" id="{C3905E9E-ED00-E934-7BF2-EA2D89D86BB7}"/>
              </a:ext>
            </a:extLst>
          </p:cNvPr>
          <p:cNvSpPr>
            <a:spLocks noGrp="1"/>
          </p:cNvSpPr>
          <p:nvPr>
            <p:ph type="subTitle" idx="1"/>
          </p:nvPr>
        </p:nvSpPr>
        <p:spPr>
          <a:xfrm>
            <a:off x="914402" y="3634138"/>
            <a:ext cx="6700469" cy="987777"/>
          </a:xfrm>
        </p:spPr>
        <p:txBody>
          <a:bodyPr/>
          <a:lstStyle/>
          <a:p>
            <a:r>
              <a:rPr lang="en-US" dirty="0"/>
              <a:t>June 2023</a:t>
            </a:r>
          </a:p>
        </p:txBody>
      </p:sp>
      <p:sp>
        <p:nvSpPr>
          <p:cNvPr id="4" name="Slide Number Placeholder 3" hidden="1"/>
          <p:cNvSpPr>
            <a:spLocks noGrp="1"/>
          </p:cNvSpPr>
          <p:nvPr>
            <p:ph type="sldNum" sz="quarter" idx="4294967295"/>
          </p:nvPr>
        </p:nvSpPr>
        <p:spPr>
          <a:xfrm>
            <a:off x="8737600" y="6285798"/>
            <a:ext cx="2844800" cy="365125"/>
          </a:xfrm>
        </p:spPr>
        <p:txBody>
          <a:bodyPr/>
          <a:lstStyle/>
          <a:p>
            <a:pPr defTabSz="609585">
              <a:spcAft>
                <a:spcPts val="600"/>
              </a:spcAft>
            </a:pPr>
            <a:fld id="{AF88E988-FB04-AB4E-BE5A-59F242AF7F7A}" type="slidenum">
              <a:rPr lang="en-US">
                <a:latin typeface="Arial"/>
              </a:rPr>
              <a:pPr defTabSz="609585">
                <a:spcAft>
                  <a:spcPts val="600"/>
                </a:spcAft>
              </a:pPr>
              <a:t>1</a:t>
            </a:fld>
            <a:endParaRPr lang="en-US">
              <a:latin typeface="Arial"/>
            </a:endParaRPr>
          </a:p>
        </p:txBody>
      </p:sp>
    </p:spTree>
    <p:extLst>
      <p:ext uri="{BB962C8B-B14F-4D97-AF65-F5344CB8AC3E}">
        <p14:creationId xmlns:p14="http://schemas.microsoft.com/office/powerpoint/2010/main" val="295981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72E02-08DD-A97E-954A-5700D7156291}"/>
              </a:ext>
            </a:extLst>
          </p:cNvPr>
          <p:cNvSpPr>
            <a:spLocks noGrp="1"/>
          </p:cNvSpPr>
          <p:nvPr>
            <p:ph type="ctrTitle"/>
          </p:nvPr>
        </p:nvSpPr>
        <p:spPr/>
        <p:txBody>
          <a:bodyPr/>
          <a:lstStyle/>
          <a:p>
            <a:r>
              <a:rPr lang="en-US" dirty="0"/>
              <a:t>Agenda</a:t>
            </a:r>
          </a:p>
        </p:txBody>
      </p:sp>
      <p:sp>
        <p:nvSpPr>
          <p:cNvPr id="3" name="Subtitle 2">
            <a:extLst>
              <a:ext uri="{FF2B5EF4-FFF2-40B4-BE49-F238E27FC236}">
                <a16:creationId xmlns:a16="http://schemas.microsoft.com/office/drawing/2014/main" id="{AD680643-B786-5A15-5DD5-E5568ABCC0DC}"/>
              </a:ext>
            </a:extLst>
          </p:cNvPr>
          <p:cNvSpPr>
            <a:spLocks noGrp="1"/>
          </p:cNvSpPr>
          <p:nvPr>
            <p:ph type="subTitle" idx="1"/>
          </p:nvPr>
        </p:nvSpPr>
        <p:spPr>
          <a:xfrm>
            <a:off x="914400" y="1698171"/>
            <a:ext cx="9030789" cy="4192577"/>
          </a:xfrm>
        </p:spPr>
        <p:txBody>
          <a:bodyPr/>
          <a:lstStyle/>
          <a:p>
            <a:pPr marL="342900" indent="-342900">
              <a:buFont typeface="Arial" panose="020B0604020202020204" pitchFamily="34" charset="0"/>
              <a:buChar char="•"/>
            </a:pPr>
            <a:r>
              <a:rPr lang="en-US" dirty="0"/>
              <a:t>Goal of the day</a:t>
            </a:r>
          </a:p>
          <a:p>
            <a:pPr marL="342900" indent="-342900">
              <a:buFont typeface="Arial" panose="020B0604020202020204" pitchFamily="34" charset="0"/>
              <a:buChar char="•"/>
            </a:pPr>
            <a:r>
              <a:rPr lang="en-US" dirty="0"/>
              <a:t>What is </a:t>
            </a:r>
            <a:r>
              <a:rPr lang="en-US" dirty="0" err="1"/>
              <a:t>SignatureMD</a:t>
            </a:r>
            <a:r>
              <a:rPr lang="en-US" dirty="0"/>
              <a:t> solving for?</a:t>
            </a:r>
          </a:p>
          <a:p>
            <a:pPr marL="342900" indent="-342900">
              <a:buFont typeface="Arial" panose="020B0604020202020204" pitchFamily="34" charset="0"/>
              <a:buChar char="•"/>
            </a:pPr>
            <a:r>
              <a:rPr lang="en-US" dirty="0"/>
              <a:t>Homework Review</a:t>
            </a:r>
          </a:p>
          <a:p>
            <a:pPr marL="342900" indent="-342900">
              <a:buFont typeface="Arial" panose="020B0604020202020204" pitchFamily="34" charset="0"/>
              <a:buChar char="•"/>
            </a:pPr>
            <a:r>
              <a:rPr lang="en-US" dirty="0"/>
              <a:t>MEDDIC-F Roll out</a:t>
            </a:r>
          </a:p>
          <a:p>
            <a:pPr marL="342900" indent="-342900">
              <a:buFont typeface="Arial" panose="020B0604020202020204" pitchFamily="34" charset="0"/>
              <a:buChar char="•"/>
            </a:pPr>
            <a:r>
              <a:rPr lang="en-US" dirty="0"/>
              <a:t>How to move from Discovery to data pull.</a:t>
            </a:r>
          </a:p>
          <a:p>
            <a:pPr marL="342900" indent="-342900">
              <a:buFont typeface="Arial" panose="020B0604020202020204" pitchFamily="34" charset="0"/>
              <a:buChar char="•"/>
            </a:pPr>
            <a:r>
              <a:rPr lang="en-US" dirty="0"/>
              <a:t>Lunch</a:t>
            </a:r>
          </a:p>
          <a:p>
            <a:pPr marL="342900" indent="-342900">
              <a:buFont typeface="Arial" panose="020B0604020202020204" pitchFamily="34" charset="0"/>
              <a:buChar char="•"/>
            </a:pPr>
            <a:r>
              <a:rPr lang="en-US" dirty="0"/>
              <a:t>Selling the Data Analysis</a:t>
            </a:r>
          </a:p>
          <a:p>
            <a:pPr marL="342900" indent="-342900">
              <a:buFont typeface="Arial" panose="020B0604020202020204" pitchFamily="34" charset="0"/>
              <a:buChar char="•"/>
            </a:pPr>
            <a:r>
              <a:rPr lang="en-US" dirty="0"/>
              <a:t>Salesforce Reports – Own your Territory</a:t>
            </a:r>
          </a:p>
          <a:p>
            <a:pPr marL="342900" indent="-342900">
              <a:buFont typeface="Arial" panose="020B0604020202020204" pitchFamily="34" charset="0"/>
              <a:buChar char="•"/>
            </a:pPr>
            <a:r>
              <a:rPr lang="en-US" dirty="0"/>
              <a:t>Role Play: The close</a:t>
            </a:r>
          </a:p>
          <a:p>
            <a:pPr marL="342900" indent="-342900">
              <a:buFont typeface="Arial" panose="020B0604020202020204" pitchFamily="34" charset="0"/>
              <a:buChar char="•"/>
            </a:pPr>
            <a:r>
              <a:rPr lang="en-US" dirty="0" err="1"/>
              <a:t>Vidyard</a:t>
            </a:r>
            <a:endParaRPr lang="en-US" dirty="0"/>
          </a:p>
          <a:p>
            <a:pPr marL="342900" indent="-342900">
              <a:buFont typeface="Arial" panose="020B0604020202020204" pitchFamily="34" charset="0"/>
              <a:buChar char="•"/>
            </a:pPr>
            <a:r>
              <a:rPr lang="en-US" dirty="0"/>
              <a:t>Wrap up</a:t>
            </a:r>
          </a:p>
          <a:p>
            <a:pPr marL="342900" indent="-342900">
              <a:buFont typeface="Arial" panose="020B0604020202020204" pitchFamily="34" charset="0"/>
              <a:buChar char="•"/>
            </a:pPr>
            <a:r>
              <a:rPr lang="en-US" dirty="0"/>
              <a:t>Treehouse for Happy Hour</a:t>
            </a:r>
          </a:p>
          <a:p>
            <a:pPr marL="342900" indent="-342900">
              <a:buFont typeface="Arial" panose="020B0604020202020204" pitchFamily="34" charset="0"/>
              <a:buChar char="•"/>
            </a:pPr>
            <a:r>
              <a:rPr lang="en-US" dirty="0"/>
              <a:t>El Camino for Dinner</a:t>
            </a:r>
          </a:p>
          <a:p>
            <a:pPr marL="342900" indent="-34290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4780621-7FFD-9F0C-70ED-062D6FFD578E}"/>
              </a:ext>
            </a:extLst>
          </p:cNvPr>
          <p:cNvSpPr>
            <a:spLocks noGrp="1"/>
          </p:cNvSpPr>
          <p:nvPr>
            <p:ph type="sldNum" sz="quarter" idx="12"/>
          </p:nvPr>
        </p:nvSpPr>
        <p:spPr/>
        <p:txBody>
          <a:bodyPr/>
          <a:lstStyle/>
          <a:p>
            <a:fld id="{AF88E988-FB04-AB4E-BE5A-59F242AF7F7A}" type="slidenum">
              <a:rPr lang="en-US" smtClean="0"/>
              <a:pPr/>
              <a:t>2</a:t>
            </a:fld>
            <a:endParaRPr lang="en-US"/>
          </a:p>
        </p:txBody>
      </p:sp>
    </p:spTree>
    <p:extLst>
      <p:ext uri="{BB962C8B-B14F-4D97-AF65-F5344CB8AC3E}">
        <p14:creationId xmlns:p14="http://schemas.microsoft.com/office/powerpoint/2010/main" val="1148868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A505-FD84-43F1-2051-4DAA917B853C}"/>
              </a:ext>
            </a:extLst>
          </p:cNvPr>
          <p:cNvSpPr>
            <a:spLocks noGrp="1"/>
          </p:cNvSpPr>
          <p:nvPr>
            <p:ph type="ctrTitle"/>
          </p:nvPr>
        </p:nvSpPr>
        <p:spPr>
          <a:xfrm>
            <a:off x="688368" y="327404"/>
            <a:ext cx="10363200" cy="1470025"/>
          </a:xfrm>
        </p:spPr>
        <p:txBody>
          <a:bodyPr/>
          <a:lstStyle/>
          <a:p>
            <a:r>
              <a:rPr lang="en-US" dirty="0"/>
              <a:t>Goals of the Day</a:t>
            </a:r>
          </a:p>
        </p:txBody>
      </p:sp>
      <p:sp>
        <p:nvSpPr>
          <p:cNvPr id="3" name="Slide Number Placeholder 2">
            <a:extLst>
              <a:ext uri="{FF2B5EF4-FFF2-40B4-BE49-F238E27FC236}">
                <a16:creationId xmlns:a16="http://schemas.microsoft.com/office/drawing/2014/main" id="{D4B06065-5973-46A9-B340-6EC670144B67}"/>
              </a:ext>
            </a:extLst>
          </p:cNvPr>
          <p:cNvSpPr>
            <a:spLocks noGrp="1"/>
          </p:cNvSpPr>
          <p:nvPr>
            <p:ph type="sldNum" sz="quarter" idx="12"/>
          </p:nvPr>
        </p:nvSpPr>
        <p:spPr/>
        <p:txBody>
          <a:bodyPr/>
          <a:lstStyle/>
          <a:p>
            <a:fld id="{AF88E988-FB04-AB4E-BE5A-59F242AF7F7A}" type="slidenum">
              <a:rPr lang="en-US" smtClean="0"/>
              <a:pPr/>
              <a:t>3</a:t>
            </a:fld>
            <a:endParaRPr lang="en-US"/>
          </a:p>
        </p:txBody>
      </p:sp>
      <p:sp>
        <p:nvSpPr>
          <p:cNvPr id="6" name="TextBox 5">
            <a:extLst>
              <a:ext uri="{FF2B5EF4-FFF2-40B4-BE49-F238E27FC236}">
                <a16:creationId xmlns:a16="http://schemas.microsoft.com/office/drawing/2014/main" id="{F48F6C0A-9568-0A14-0D61-FB183AF10E35}"/>
              </a:ext>
            </a:extLst>
          </p:cNvPr>
          <p:cNvSpPr txBox="1"/>
          <p:nvPr/>
        </p:nvSpPr>
        <p:spPr>
          <a:xfrm>
            <a:off x="1406698" y="1797429"/>
            <a:ext cx="8753302" cy="3416320"/>
          </a:xfrm>
          <a:prstGeom prst="rect">
            <a:avLst/>
          </a:prstGeom>
          <a:noFill/>
        </p:spPr>
        <p:txBody>
          <a:bodyPr wrap="square" rtlCol="0">
            <a:spAutoFit/>
          </a:bodyPr>
          <a:lstStyle/>
          <a:p>
            <a:pPr marL="571500" indent="-571500">
              <a:buFont typeface="Arial" panose="020B0604020202020204" pitchFamily="34" charset="0"/>
              <a:buChar char="•"/>
            </a:pPr>
            <a:r>
              <a:rPr lang="en-US" sz="3600" dirty="0"/>
              <a:t>Be confident in selling the Data Analysis</a:t>
            </a:r>
          </a:p>
          <a:p>
            <a:pPr marL="571500" indent="-571500">
              <a:buFont typeface="Arial" panose="020B0604020202020204" pitchFamily="34" charset="0"/>
              <a:buChar char="•"/>
            </a:pPr>
            <a:r>
              <a:rPr lang="en-US" sz="3600" dirty="0"/>
              <a:t>Inspire your Prospects</a:t>
            </a:r>
          </a:p>
          <a:p>
            <a:pPr marL="571500" indent="-571500">
              <a:buFont typeface="Arial" panose="020B0604020202020204" pitchFamily="34" charset="0"/>
              <a:buChar char="•"/>
            </a:pPr>
            <a:r>
              <a:rPr lang="en-US" sz="3600" dirty="0"/>
              <a:t>Own your Territory</a:t>
            </a:r>
          </a:p>
          <a:p>
            <a:pPr marL="571500" indent="-571500">
              <a:buFont typeface="Arial" panose="020B0604020202020204" pitchFamily="34" charset="0"/>
              <a:buChar char="•"/>
            </a:pPr>
            <a:r>
              <a:rPr lang="en-US" sz="3600" dirty="0"/>
              <a:t>Feel Confident to Use </a:t>
            </a:r>
            <a:r>
              <a:rPr lang="en-US" sz="3600" dirty="0" err="1"/>
              <a:t>Meddic</a:t>
            </a:r>
            <a:endParaRPr lang="en-US" sz="3600" dirty="0"/>
          </a:p>
          <a:p>
            <a:pPr marL="571500" indent="-571500">
              <a:buFont typeface="Arial" panose="020B0604020202020204" pitchFamily="34" charset="0"/>
              <a:buChar char="•"/>
            </a:pPr>
            <a:endParaRPr lang="en-US" sz="3600" dirty="0"/>
          </a:p>
        </p:txBody>
      </p:sp>
    </p:spTree>
    <p:extLst>
      <p:ext uri="{BB962C8B-B14F-4D97-AF65-F5344CB8AC3E}">
        <p14:creationId xmlns:p14="http://schemas.microsoft.com/office/powerpoint/2010/main" val="2085325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A505-FD84-43F1-2051-4DAA917B853C}"/>
              </a:ext>
            </a:extLst>
          </p:cNvPr>
          <p:cNvSpPr>
            <a:spLocks noGrp="1"/>
          </p:cNvSpPr>
          <p:nvPr>
            <p:ph type="ctrTitle"/>
          </p:nvPr>
        </p:nvSpPr>
        <p:spPr>
          <a:xfrm>
            <a:off x="688368" y="327404"/>
            <a:ext cx="10363200" cy="1470025"/>
          </a:xfrm>
        </p:spPr>
        <p:txBody>
          <a:bodyPr/>
          <a:lstStyle/>
          <a:p>
            <a:r>
              <a:rPr lang="en-US" dirty="0"/>
              <a:t>Rules</a:t>
            </a:r>
          </a:p>
        </p:txBody>
      </p:sp>
      <p:sp>
        <p:nvSpPr>
          <p:cNvPr id="3" name="Slide Number Placeholder 2">
            <a:extLst>
              <a:ext uri="{FF2B5EF4-FFF2-40B4-BE49-F238E27FC236}">
                <a16:creationId xmlns:a16="http://schemas.microsoft.com/office/drawing/2014/main" id="{D4B06065-5973-46A9-B340-6EC670144B67}"/>
              </a:ext>
            </a:extLst>
          </p:cNvPr>
          <p:cNvSpPr>
            <a:spLocks noGrp="1"/>
          </p:cNvSpPr>
          <p:nvPr>
            <p:ph type="sldNum" sz="quarter" idx="12"/>
          </p:nvPr>
        </p:nvSpPr>
        <p:spPr/>
        <p:txBody>
          <a:bodyPr/>
          <a:lstStyle/>
          <a:p>
            <a:fld id="{AF88E988-FB04-AB4E-BE5A-59F242AF7F7A}" type="slidenum">
              <a:rPr lang="en-US" smtClean="0"/>
              <a:pPr/>
              <a:t>4</a:t>
            </a:fld>
            <a:endParaRPr lang="en-US"/>
          </a:p>
        </p:txBody>
      </p:sp>
      <p:sp>
        <p:nvSpPr>
          <p:cNvPr id="5" name="TextBox 4">
            <a:extLst>
              <a:ext uri="{FF2B5EF4-FFF2-40B4-BE49-F238E27FC236}">
                <a16:creationId xmlns:a16="http://schemas.microsoft.com/office/drawing/2014/main" id="{350DD28E-D415-5B69-B505-B9AF92243665}"/>
              </a:ext>
            </a:extLst>
          </p:cNvPr>
          <p:cNvSpPr txBox="1"/>
          <p:nvPr/>
        </p:nvSpPr>
        <p:spPr>
          <a:xfrm>
            <a:off x="688368" y="1797429"/>
            <a:ext cx="10007030" cy="3139321"/>
          </a:xfrm>
          <a:prstGeom prst="rect">
            <a:avLst/>
          </a:prstGeom>
          <a:noFill/>
        </p:spPr>
        <p:txBody>
          <a:bodyPr wrap="square" rtlCol="0">
            <a:spAutoFit/>
          </a:bodyPr>
          <a:lstStyle/>
          <a:p>
            <a:pPr marL="285750" indent="-285750">
              <a:buFont typeface="Arial" panose="020B0604020202020204" pitchFamily="34" charset="0"/>
              <a:buChar char="•"/>
            </a:pPr>
            <a:r>
              <a:rPr lang="en-US" sz="3600" dirty="0"/>
              <a:t>Be Present</a:t>
            </a:r>
          </a:p>
          <a:p>
            <a:pPr marL="285750" indent="-285750">
              <a:buFont typeface="Arial" panose="020B0604020202020204" pitchFamily="34" charset="0"/>
              <a:buChar char="•"/>
            </a:pPr>
            <a:r>
              <a:rPr lang="en-US" sz="3600" dirty="0"/>
              <a:t>Be Open Minded</a:t>
            </a:r>
          </a:p>
          <a:p>
            <a:pPr marL="285750" indent="-285750">
              <a:buFont typeface="Arial" panose="020B0604020202020204" pitchFamily="34" charset="0"/>
              <a:buChar char="•"/>
            </a:pPr>
            <a:r>
              <a:rPr lang="en-US" sz="3600" dirty="0"/>
              <a:t>Be Open to Feedback</a:t>
            </a:r>
          </a:p>
          <a:p>
            <a:pPr marL="285750" indent="-285750">
              <a:buFont typeface="Arial" panose="020B0604020202020204" pitchFamily="34" charset="0"/>
              <a:buChar char="•"/>
            </a:pPr>
            <a:r>
              <a:rPr lang="en-US" sz="3600" dirty="0"/>
              <a:t>Leave your ego at the door</a:t>
            </a:r>
          </a:p>
          <a:p>
            <a:pPr marL="285750" indent="-285750">
              <a:buFont typeface="Arial" panose="020B0604020202020204" pitchFamily="34" charset="0"/>
              <a:buChar char="•"/>
            </a:pPr>
            <a:r>
              <a:rPr lang="en-US" sz="3600" dirty="0"/>
              <a:t>Stay off you Cell Phones and on Silent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71173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B06065-5973-46A9-B340-6EC670144B67}"/>
              </a:ext>
            </a:extLst>
          </p:cNvPr>
          <p:cNvSpPr>
            <a:spLocks noGrp="1"/>
          </p:cNvSpPr>
          <p:nvPr>
            <p:ph type="sldNum" sz="quarter" idx="12"/>
          </p:nvPr>
        </p:nvSpPr>
        <p:spPr/>
        <p:txBody>
          <a:bodyPr/>
          <a:lstStyle/>
          <a:p>
            <a:fld id="{AF88E988-FB04-AB4E-BE5A-59F242AF7F7A}" type="slidenum">
              <a:rPr lang="en-US" smtClean="0"/>
              <a:pPr/>
              <a:t>5</a:t>
            </a:fld>
            <a:endParaRPr lang="en-US"/>
          </a:p>
        </p:txBody>
      </p:sp>
      <p:sp>
        <p:nvSpPr>
          <p:cNvPr id="4" name="TextBox 3">
            <a:extLst>
              <a:ext uri="{FF2B5EF4-FFF2-40B4-BE49-F238E27FC236}">
                <a16:creationId xmlns:a16="http://schemas.microsoft.com/office/drawing/2014/main" id="{977DB757-974E-2682-6BA9-D36BE0466941}"/>
              </a:ext>
            </a:extLst>
          </p:cNvPr>
          <p:cNvSpPr txBox="1"/>
          <p:nvPr/>
        </p:nvSpPr>
        <p:spPr>
          <a:xfrm>
            <a:off x="590452" y="1181961"/>
            <a:ext cx="11260478" cy="3416320"/>
          </a:xfrm>
          <a:prstGeom prst="rect">
            <a:avLst/>
          </a:prstGeom>
          <a:noFill/>
        </p:spPr>
        <p:txBody>
          <a:bodyPr wrap="square" rtlCol="0">
            <a:spAutoFit/>
          </a:bodyPr>
          <a:lstStyle/>
          <a:p>
            <a:pPr algn="l"/>
            <a:r>
              <a:rPr lang="en-US" sz="2400" b="0" i="0" dirty="0">
                <a:solidFill>
                  <a:srgbClr val="374151"/>
                </a:solidFill>
                <a:effectLst/>
                <a:latin typeface="Söhne"/>
              </a:rPr>
              <a:t>Success, is not a destination; it is a never-ending journey. It is the result of countless hours of hard work, strategic thinking, and a relentless pursuit of excellence. It is about going that extra mile, even when it seems impossible. It is about pushing boundaries, breaking barriers, and refusing to settle for mediocrity.</a:t>
            </a:r>
          </a:p>
          <a:p>
            <a:pPr algn="l"/>
            <a:endParaRPr lang="en-US" sz="2400" b="0" i="0" dirty="0">
              <a:solidFill>
                <a:srgbClr val="374151"/>
              </a:solidFill>
              <a:effectLst/>
              <a:latin typeface="Söhne"/>
            </a:endParaRPr>
          </a:p>
          <a:p>
            <a:pPr algn="l"/>
            <a:r>
              <a:rPr lang="en-US" sz="2400" b="0" i="0" dirty="0">
                <a:solidFill>
                  <a:srgbClr val="374151"/>
                </a:solidFill>
                <a:effectLst/>
                <a:latin typeface="Söhne"/>
              </a:rPr>
              <a:t>But remember, success is not an individual pursuit—it is a team effort. Each one of us plays a vital role in the grand tapestry of our organization. Our collective strength, knowledge, and expertise are the pillars that hold us high. Together, we can achieve greatness, inspire change, and leave an indelible mark on the world.</a:t>
            </a:r>
          </a:p>
        </p:txBody>
      </p:sp>
    </p:spTree>
    <p:extLst>
      <p:ext uri="{BB962C8B-B14F-4D97-AF65-F5344CB8AC3E}">
        <p14:creationId xmlns:p14="http://schemas.microsoft.com/office/powerpoint/2010/main" val="3164396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C3E69-5B85-6F48-3224-4C1DE82414FC}"/>
              </a:ext>
            </a:extLst>
          </p:cNvPr>
          <p:cNvSpPr>
            <a:spLocks noGrp="1"/>
          </p:cNvSpPr>
          <p:nvPr>
            <p:ph type="ctrTitle"/>
          </p:nvPr>
        </p:nvSpPr>
        <p:spPr>
          <a:xfrm>
            <a:off x="3657600" y="310965"/>
            <a:ext cx="10363200" cy="1470025"/>
          </a:xfrm>
        </p:spPr>
        <p:txBody>
          <a:bodyPr/>
          <a:lstStyle/>
          <a:p>
            <a:r>
              <a:rPr lang="en-US" dirty="0"/>
              <a:t>State of Union</a:t>
            </a:r>
            <a:br>
              <a:rPr lang="en-US" dirty="0"/>
            </a:br>
            <a:br>
              <a:rPr lang="en-US" dirty="0"/>
            </a:br>
            <a:endParaRPr lang="en-US" dirty="0"/>
          </a:p>
        </p:txBody>
      </p:sp>
      <p:sp>
        <p:nvSpPr>
          <p:cNvPr id="4" name="Slide Number Placeholder 3">
            <a:extLst>
              <a:ext uri="{FF2B5EF4-FFF2-40B4-BE49-F238E27FC236}">
                <a16:creationId xmlns:a16="http://schemas.microsoft.com/office/drawing/2014/main" id="{4A7F4415-3C7B-F0BC-DD6F-FE2A00266E5B}"/>
              </a:ext>
            </a:extLst>
          </p:cNvPr>
          <p:cNvSpPr>
            <a:spLocks noGrp="1"/>
          </p:cNvSpPr>
          <p:nvPr>
            <p:ph type="sldNum" sz="quarter" idx="12"/>
          </p:nvPr>
        </p:nvSpPr>
        <p:spPr/>
        <p:txBody>
          <a:bodyPr/>
          <a:lstStyle/>
          <a:p>
            <a:fld id="{AF88E988-FB04-AB4E-BE5A-59F242AF7F7A}" type="slidenum">
              <a:rPr lang="en-US" smtClean="0"/>
              <a:pPr/>
              <a:t>6</a:t>
            </a:fld>
            <a:endParaRPr lang="en-US"/>
          </a:p>
        </p:txBody>
      </p:sp>
      <p:pic>
        <p:nvPicPr>
          <p:cNvPr id="5" name="Picture 4">
            <a:extLst>
              <a:ext uri="{FF2B5EF4-FFF2-40B4-BE49-F238E27FC236}">
                <a16:creationId xmlns:a16="http://schemas.microsoft.com/office/drawing/2014/main" id="{A166F434-AC02-64E6-A365-2AFD683908C0}"/>
              </a:ext>
            </a:extLst>
          </p:cNvPr>
          <p:cNvPicPr>
            <a:picLocks noChangeAspect="1"/>
          </p:cNvPicPr>
          <p:nvPr/>
        </p:nvPicPr>
        <p:blipFill>
          <a:blip r:embed="rId2"/>
          <a:stretch>
            <a:fillRect/>
          </a:stretch>
        </p:blipFill>
        <p:spPr>
          <a:xfrm>
            <a:off x="5497138" y="1263534"/>
            <a:ext cx="6085262" cy="3221297"/>
          </a:xfrm>
          <a:prstGeom prst="rect">
            <a:avLst/>
          </a:prstGeom>
        </p:spPr>
      </p:pic>
      <p:pic>
        <p:nvPicPr>
          <p:cNvPr id="6" name="Picture 5">
            <a:extLst>
              <a:ext uri="{FF2B5EF4-FFF2-40B4-BE49-F238E27FC236}">
                <a16:creationId xmlns:a16="http://schemas.microsoft.com/office/drawing/2014/main" id="{9C11E92B-B5C0-3CD2-8030-A5244D7539C1}"/>
              </a:ext>
            </a:extLst>
          </p:cNvPr>
          <p:cNvPicPr>
            <a:picLocks noChangeAspect="1"/>
          </p:cNvPicPr>
          <p:nvPr/>
        </p:nvPicPr>
        <p:blipFill>
          <a:blip r:embed="rId3"/>
          <a:stretch>
            <a:fillRect/>
          </a:stretch>
        </p:blipFill>
        <p:spPr>
          <a:xfrm>
            <a:off x="482522" y="1263534"/>
            <a:ext cx="4986906" cy="3221297"/>
          </a:xfrm>
          <a:prstGeom prst="rect">
            <a:avLst/>
          </a:prstGeom>
        </p:spPr>
      </p:pic>
      <p:sp>
        <p:nvSpPr>
          <p:cNvPr id="7" name="TextBox 6">
            <a:extLst>
              <a:ext uri="{FF2B5EF4-FFF2-40B4-BE49-F238E27FC236}">
                <a16:creationId xmlns:a16="http://schemas.microsoft.com/office/drawing/2014/main" id="{F5A945ED-D4D5-025B-EC43-9CC603551475}"/>
              </a:ext>
            </a:extLst>
          </p:cNvPr>
          <p:cNvSpPr txBox="1"/>
          <p:nvPr/>
        </p:nvSpPr>
        <p:spPr>
          <a:xfrm>
            <a:off x="1246909" y="5068068"/>
            <a:ext cx="4588626" cy="954107"/>
          </a:xfrm>
          <a:prstGeom prst="rect">
            <a:avLst/>
          </a:prstGeom>
          <a:noFill/>
        </p:spPr>
        <p:txBody>
          <a:bodyPr wrap="square" rtlCol="0">
            <a:spAutoFit/>
          </a:bodyPr>
          <a:lstStyle/>
          <a:p>
            <a:r>
              <a:rPr lang="en-US" sz="2800" b="1" dirty="0"/>
              <a:t>56 is the goal we need to hit. </a:t>
            </a:r>
          </a:p>
        </p:txBody>
      </p:sp>
    </p:spTree>
    <p:extLst>
      <p:ext uri="{BB962C8B-B14F-4D97-AF65-F5344CB8AC3E}">
        <p14:creationId xmlns:p14="http://schemas.microsoft.com/office/powerpoint/2010/main" val="2449746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C3E69-5B85-6F48-3224-4C1DE82414FC}"/>
              </a:ext>
            </a:extLst>
          </p:cNvPr>
          <p:cNvSpPr>
            <a:spLocks noGrp="1"/>
          </p:cNvSpPr>
          <p:nvPr>
            <p:ph type="ctrTitle"/>
          </p:nvPr>
        </p:nvSpPr>
        <p:spPr>
          <a:xfrm>
            <a:off x="3657600" y="310965"/>
            <a:ext cx="10363200" cy="1470025"/>
          </a:xfrm>
        </p:spPr>
        <p:txBody>
          <a:bodyPr/>
          <a:lstStyle/>
          <a:p>
            <a:r>
              <a:rPr lang="en-US" dirty="0"/>
              <a:t>State of Union</a:t>
            </a:r>
            <a:br>
              <a:rPr lang="en-US" dirty="0"/>
            </a:br>
            <a:br>
              <a:rPr lang="en-US" dirty="0"/>
            </a:br>
            <a:endParaRPr lang="en-US" dirty="0"/>
          </a:p>
        </p:txBody>
      </p:sp>
      <p:sp>
        <p:nvSpPr>
          <p:cNvPr id="4" name="Slide Number Placeholder 3">
            <a:extLst>
              <a:ext uri="{FF2B5EF4-FFF2-40B4-BE49-F238E27FC236}">
                <a16:creationId xmlns:a16="http://schemas.microsoft.com/office/drawing/2014/main" id="{4A7F4415-3C7B-F0BC-DD6F-FE2A00266E5B}"/>
              </a:ext>
            </a:extLst>
          </p:cNvPr>
          <p:cNvSpPr>
            <a:spLocks noGrp="1"/>
          </p:cNvSpPr>
          <p:nvPr>
            <p:ph type="sldNum" sz="quarter" idx="12"/>
          </p:nvPr>
        </p:nvSpPr>
        <p:spPr/>
        <p:txBody>
          <a:bodyPr/>
          <a:lstStyle/>
          <a:p>
            <a:fld id="{AF88E988-FB04-AB4E-BE5A-59F242AF7F7A}" type="slidenum">
              <a:rPr lang="en-US" smtClean="0"/>
              <a:pPr/>
              <a:t>7</a:t>
            </a:fld>
            <a:endParaRPr lang="en-US"/>
          </a:p>
        </p:txBody>
      </p:sp>
      <p:pic>
        <p:nvPicPr>
          <p:cNvPr id="3" name="Picture 2">
            <a:extLst>
              <a:ext uri="{FF2B5EF4-FFF2-40B4-BE49-F238E27FC236}">
                <a16:creationId xmlns:a16="http://schemas.microsoft.com/office/drawing/2014/main" id="{5D5F4DB5-B1F1-D4A2-A858-C8F0BFFB64FB}"/>
              </a:ext>
            </a:extLst>
          </p:cNvPr>
          <p:cNvPicPr>
            <a:picLocks noChangeAspect="1"/>
          </p:cNvPicPr>
          <p:nvPr/>
        </p:nvPicPr>
        <p:blipFill>
          <a:blip r:embed="rId2"/>
          <a:stretch>
            <a:fillRect/>
          </a:stretch>
        </p:blipFill>
        <p:spPr>
          <a:xfrm>
            <a:off x="1338147" y="1847463"/>
            <a:ext cx="9166567" cy="2599726"/>
          </a:xfrm>
          <a:prstGeom prst="rect">
            <a:avLst/>
          </a:prstGeom>
        </p:spPr>
      </p:pic>
      <p:sp>
        <p:nvSpPr>
          <p:cNvPr id="8" name="Down Arrow 7">
            <a:extLst>
              <a:ext uri="{FF2B5EF4-FFF2-40B4-BE49-F238E27FC236}">
                <a16:creationId xmlns:a16="http://schemas.microsoft.com/office/drawing/2014/main" id="{2247217F-9BBF-C599-F319-899BA7B2975F}"/>
              </a:ext>
            </a:extLst>
          </p:cNvPr>
          <p:cNvSpPr/>
          <p:nvPr/>
        </p:nvSpPr>
        <p:spPr>
          <a:xfrm>
            <a:off x="10804089" y="2253342"/>
            <a:ext cx="777551" cy="1567543"/>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a:solidFill>
                  <a:srgbClr val="FF0000"/>
                </a:solidFill>
              </a:ln>
            </a:endParaRPr>
          </a:p>
        </p:txBody>
      </p:sp>
    </p:spTree>
    <p:extLst>
      <p:ext uri="{BB962C8B-B14F-4D97-AF65-F5344CB8AC3E}">
        <p14:creationId xmlns:p14="http://schemas.microsoft.com/office/powerpoint/2010/main" val="1067181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with low confidence">
            <a:extLst>
              <a:ext uri="{FF2B5EF4-FFF2-40B4-BE49-F238E27FC236}">
                <a16:creationId xmlns:a16="http://schemas.microsoft.com/office/drawing/2014/main" id="{A6B0595E-5A07-4349-BD89-F8E0CD87E9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F215FBEA-DA87-4316-A45E-6B0D4B4FC083}"/>
              </a:ext>
            </a:extLst>
          </p:cNvPr>
          <p:cNvSpPr>
            <a:spLocks noGrp="1"/>
          </p:cNvSpPr>
          <p:nvPr>
            <p:ph type="subTitle" idx="1"/>
          </p:nvPr>
        </p:nvSpPr>
        <p:spPr>
          <a:xfrm>
            <a:off x="4554856" y="3307841"/>
            <a:ext cx="2482942" cy="3970576"/>
          </a:xfrm>
        </p:spPr>
        <p:txBody>
          <a:bodyPr>
            <a:normAutofit/>
          </a:bodyPr>
          <a:lstStyle/>
          <a:p>
            <a:pPr algn="l"/>
            <a:r>
              <a:rPr lang="en-US" b="1" dirty="0"/>
              <a:t>Open Conversation</a:t>
            </a:r>
          </a:p>
          <a:p>
            <a:pPr algn="l"/>
            <a:endParaRPr lang="en-US" sz="2000" i="1" dirty="0">
              <a:latin typeface="Montserrat" pitchFamily="2" charset="0"/>
            </a:endParaRPr>
          </a:p>
        </p:txBody>
      </p:sp>
      <p:sp>
        <p:nvSpPr>
          <p:cNvPr id="7" name="Title 1">
            <a:extLst>
              <a:ext uri="{FF2B5EF4-FFF2-40B4-BE49-F238E27FC236}">
                <a16:creationId xmlns:a16="http://schemas.microsoft.com/office/drawing/2014/main" id="{15AB7C6D-C19B-498A-8BCE-50DB3A5D9552}"/>
              </a:ext>
            </a:extLst>
          </p:cNvPr>
          <p:cNvSpPr txBox="1">
            <a:spLocks/>
          </p:cNvSpPr>
          <p:nvPr/>
        </p:nvSpPr>
        <p:spPr>
          <a:xfrm>
            <a:off x="0" y="420417"/>
            <a:ext cx="10171415"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What is </a:t>
            </a:r>
            <a:r>
              <a:rPr lang="en-US" sz="5400" dirty="0" err="1">
                <a:solidFill>
                  <a:schemeClr val="bg1"/>
                </a:solidFill>
                <a:latin typeface="+mn-lt"/>
              </a:rPr>
              <a:t>SignatureMD</a:t>
            </a:r>
            <a:r>
              <a:rPr lang="en-US" sz="5400" dirty="0">
                <a:solidFill>
                  <a:schemeClr val="bg1"/>
                </a:solidFill>
                <a:latin typeface="+mn-lt"/>
              </a:rPr>
              <a:t> Solving For?</a:t>
            </a:r>
          </a:p>
        </p:txBody>
      </p:sp>
    </p:spTree>
    <p:extLst>
      <p:ext uri="{BB962C8B-B14F-4D97-AF65-F5344CB8AC3E}">
        <p14:creationId xmlns:p14="http://schemas.microsoft.com/office/powerpoint/2010/main" val="1797552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with low confidence">
            <a:extLst>
              <a:ext uri="{FF2B5EF4-FFF2-40B4-BE49-F238E27FC236}">
                <a16:creationId xmlns:a16="http://schemas.microsoft.com/office/drawing/2014/main" id="{A6B0595E-5A07-4349-BD89-F8E0CD87E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15AB7C6D-C19B-498A-8BCE-50DB3A5D9552}"/>
              </a:ext>
            </a:extLst>
          </p:cNvPr>
          <p:cNvSpPr txBox="1">
            <a:spLocks/>
          </p:cNvSpPr>
          <p:nvPr/>
        </p:nvSpPr>
        <p:spPr>
          <a:xfrm>
            <a:off x="0" y="420417"/>
            <a:ext cx="10171415"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Why we win</a:t>
            </a:r>
          </a:p>
        </p:txBody>
      </p:sp>
      <p:sp>
        <p:nvSpPr>
          <p:cNvPr id="8" name="TextBox 7">
            <a:extLst>
              <a:ext uri="{FF2B5EF4-FFF2-40B4-BE49-F238E27FC236}">
                <a16:creationId xmlns:a16="http://schemas.microsoft.com/office/drawing/2014/main" id="{D122304D-69D0-4F56-DF08-AFDFE54EAB61}"/>
              </a:ext>
            </a:extLst>
          </p:cNvPr>
          <p:cNvSpPr txBox="1"/>
          <p:nvPr/>
        </p:nvSpPr>
        <p:spPr>
          <a:xfrm>
            <a:off x="417041" y="1717238"/>
            <a:ext cx="3920181" cy="4247317"/>
          </a:xfrm>
          <a:prstGeom prst="rect">
            <a:avLst/>
          </a:prstGeom>
          <a:noFill/>
        </p:spPr>
        <p:txBody>
          <a:bodyPr wrap="square">
            <a:spAutoFit/>
          </a:bodyPr>
          <a:lstStyle/>
          <a:p>
            <a:pPr algn="l"/>
            <a:r>
              <a:rPr lang="en-US" sz="1800" b="0" i="0" dirty="0">
                <a:solidFill>
                  <a:srgbClr val="000000"/>
                </a:solidFill>
                <a:effectLst/>
                <a:latin typeface="Calibri" panose="020F0502020204030204" pitchFamily="34" charset="0"/>
              </a:rPr>
              <a:t>Why we WIN deals: (best answer…Because that’s WHAT WE DO!)</a:t>
            </a:r>
          </a:p>
          <a:p>
            <a:pPr algn="l"/>
            <a:r>
              <a:rPr lang="en-US" sz="1800" b="0" i="0" dirty="0">
                <a:solidFill>
                  <a:srgbClr val="000000"/>
                </a:solidFill>
                <a:effectLst/>
                <a:latin typeface="Calibri" panose="020F0502020204030204" pitchFamily="34" charset="0"/>
              </a:rPr>
              <a:t> </a:t>
            </a:r>
          </a:p>
          <a:p>
            <a:pPr algn="l">
              <a:buFont typeface="+mj-lt"/>
              <a:buAutoNum type="arabicPeriod"/>
            </a:pPr>
            <a:r>
              <a:rPr lang="en-US" sz="1800" b="0" i="0" dirty="0">
                <a:solidFill>
                  <a:srgbClr val="000000"/>
                </a:solidFill>
                <a:effectLst/>
                <a:latin typeface="Calibri" panose="020F0502020204030204" pitchFamily="34" charset="0"/>
              </a:rPr>
              <a:t>We find the right prospects, engage them at the right time, and present the proper information based on their needs &amp; pain points.</a:t>
            </a:r>
          </a:p>
          <a:p>
            <a:pPr algn="l">
              <a:buFont typeface="+mj-lt"/>
              <a:buAutoNum type="arabicPeriod"/>
            </a:pPr>
            <a:r>
              <a:rPr lang="en-US" sz="1800" b="0" i="0" dirty="0">
                <a:solidFill>
                  <a:srgbClr val="000000"/>
                </a:solidFill>
                <a:effectLst/>
                <a:latin typeface="Calibri" panose="020F0502020204030204" pitchFamily="34" charset="0"/>
              </a:rPr>
              <a:t>As a competitive advantage, we have a more “doctor centric” flexible offering (relative to our largest competitor) and can be clearly defined as such to attentive prospects.</a:t>
            </a:r>
          </a:p>
          <a:p>
            <a:pPr algn="l">
              <a:buFont typeface="+mj-lt"/>
              <a:buAutoNum type="arabicPeriod"/>
            </a:pPr>
            <a:r>
              <a:rPr lang="en-US" sz="1800" b="0" i="0" dirty="0">
                <a:solidFill>
                  <a:srgbClr val="000000"/>
                </a:solidFill>
                <a:effectLst/>
                <a:latin typeface="Calibri" panose="020F0502020204030204" pitchFamily="34" charset="0"/>
              </a:rPr>
              <a:t>The ability to provide a substantial signing bonus can be the one difference between a big win or a big loss.</a:t>
            </a:r>
          </a:p>
        </p:txBody>
      </p:sp>
      <p:sp>
        <p:nvSpPr>
          <p:cNvPr id="10" name="TextBox 9">
            <a:extLst>
              <a:ext uri="{FF2B5EF4-FFF2-40B4-BE49-F238E27FC236}">
                <a16:creationId xmlns:a16="http://schemas.microsoft.com/office/drawing/2014/main" id="{360B7146-A649-6420-55FE-041EEF6E9D8F}"/>
              </a:ext>
            </a:extLst>
          </p:cNvPr>
          <p:cNvSpPr txBox="1"/>
          <p:nvPr/>
        </p:nvSpPr>
        <p:spPr>
          <a:xfrm>
            <a:off x="4337222" y="1717238"/>
            <a:ext cx="6196912" cy="2862322"/>
          </a:xfrm>
          <a:prstGeom prst="rect">
            <a:avLst/>
          </a:prstGeom>
          <a:noFill/>
        </p:spPr>
        <p:txBody>
          <a:bodyPr wrap="square">
            <a:spAutoFit/>
          </a:bodyPr>
          <a:lstStyle/>
          <a:p>
            <a:pPr algn="l"/>
            <a:r>
              <a:rPr lang="en-US" sz="1800" b="0" i="0" dirty="0">
                <a:solidFill>
                  <a:srgbClr val="000000"/>
                </a:solidFill>
                <a:effectLst/>
                <a:latin typeface="Calibri" panose="020F0502020204030204" pitchFamily="34" charset="0"/>
              </a:rPr>
              <a:t>Why we win:</a:t>
            </a:r>
          </a:p>
          <a:p>
            <a:pPr algn="l"/>
            <a:r>
              <a:rPr lang="en-US" sz="1800" b="0" i="0" dirty="0">
                <a:solidFill>
                  <a:srgbClr val="000000"/>
                </a:solidFill>
                <a:effectLst/>
                <a:latin typeface="Calibri" panose="020F0502020204030204" pitchFamily="34" charset="0"/>
              </a:rPr>
              <a:t>*The right doctor, at the right time in his/her practice lifecycle, with defined pain points i.e. not making the same or enough money, too much admin, staff turnover, late hours, etc..</a:t>
            </a:r>
          </a:p>
          <a:p>
            <a:pPr algn="l"/>
            <a:r>
              <a:rPr lang="en-US" sz="1800" b="0" i="0" dirty="0">
                <a:solidFill>
                  <a:srgbClr val="000000"/>
                </a:solidFill>
                <a:effectLst/>
                <a:latin typeface="Calibri" panose="020F0502020204030204" pitchFamily="34" charset="0"/>
              </a:rPr>
              <a:t>*Competitive advantage with Segmented Model vs what they’re used to in MDVIP</a:t>
            </a:r>
          </a:p>
          <a:p>
            <a:pPr algn="l"/>
            <a:r>
              <a:rPr lang="en-US" sz="1800" b="0" i="0" dirty="0">
                <a:solidFill>
                  <a:srgbClr val="000000"/>
                </a:solidFill>
                <a:effectLst/>
                <a:latin typeface="Calibri" panose="020F0502020204030204" pitchFamily="34" charset="0"/>
              </a:rPr>
              <a:t>*Burned out – back to first point – pain points have become unsustainable.</a:t>
            </a:r>
          </a:p>
          <a:p>
            <a:pPr algn="l"/>
            <a:r>
              <a:rPr lang="en-US" sz="1800" b="0" i="0" dirty="0">
                <a:solidFill>
                  <a:srgbClr val="000000"/>
                </a:solidFill>
                <a:effectLst/>
                <a:latin typeface="Calibri" panose="020F0502020204030204" pitchFamily="34" charset="0"/>
              </a:rPr>
              <a:t>*Our approach is more appealing and less pushy – I think this should not be overlooked as it has been told repeatedly to me.</a:t>
            </a:r>
          </a:p>
        </p:txBody>
      </p:sp>
      <p:sp>
        <p:nvSpPr>
          <p:cNvPr id="14" name="TextBox 13">
            <a:extLst>
              <a:ext uri="{FF2B5EF4-FFF2-40B4-BE49-F238E27FC236}">
                <a16:creationId xmlns:a16="http://schemas.microsoft.com/office/drawing/2014/main" id="{A14F43E0-423D-0177-1BCE-4D62C8ACD5EF}"/>
              </a:ext>
            </a:extLst>
          </p:cNvPr>
          <p:cNvSpPr txBox="1"/>
          <p:nvPr/>
        </p:nvSpPr>
        <p:spPr>
          <a:xfrm>
            <a:off x="4457701" y="4764226"/>
            <a:ext cx="6196912" cy="1200329"/>
          </a:xfrm>
          <a:prstGeom prst="rect">
            <a:avLst/>
          </a:prstGeom>
          <a:noFill/>
        </p:spPr>
        <p:txBody>
          <a:bodyPr wrap="square">
            <a:spAutoFit/>
          </a:bodyPr>
          <a:lstStyle/>
          <a:p>
            <a:r>
              <a:rPr lang="en-US" b="0" i="0" dirty="0">
                <a:solidFill>
                  <a:srgbClr val="000000"/>
                </a:solidFill>
                <a:effectLst/>
                <a:latin typeface="Calibri" panose="020F0502020204030204" pitchFamily="34" charset="0"/>
              </a:rPr>
              <a:t>WIN – good Rapport- understanding pain- take time to understand business – persistence – resilience- Flexible- product knowledge of industry- know your competitor- show value – show that you care.</a:t>
            </a:r>
            <a:endParaRPr lang="en-US" dirty="0"/>
          </a:p>
        </p:txBody>
      </p:sp>
    </p:spTree>
    <p:extLst>
      <p:ext uri="{BB962C8B-B14F-4D97-AF65-F5344CB8AC3E}">
        <p14:creationId xmlns:p14="http://schemas.microsoft.com/office/powerpoint/2010/main" val="3490134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with low confidence">
            <a:extLst>
              <a:ext uri="{FF2B5EF4-FFF2-40B4-BE49-F238E27FC236}">
                <a16:creationId xmlns:a16="http://schemas.microsoft.com/office/drawing/2014/main" id="{A6B0595E-5A07-4349-BD89-F8E0CD87E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15AB7C6D-C19B-498A-8BCE-50DB3A5D9552}"/>
              </a:ext>
            </a:extLst>
          </p:cNvPr>
          <p:cNvSpPr txBox="1">
            <a:spLocks/>
          </p:cNvSpPr>
          <p:nvPr/>
        </p:nvSpPr>
        <p:spPr>
          <a:xfrm>
            <a:off x="0" y="420417"/>
            <a:ext cx="10171415"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Why we win</a:t>
            </a:r>
          </a:p>
        </p:txBody>
      </p:sp>
      <p:sp>
        <p:nvSpPr>
          <p:cNvPr id="3" name="TextBox 2">
            <a:extLst>
              <a:ext uri="{FF2B5EF4-FFF2-40B4-BE49-F238E27FC236}">
                <a16:creationId xmlns:a16="http://schemas.microsoft.com/office/drawing/2014/main" id="{DF5CF4AB-D011-EEF2-2AE9-5DB69DFCFE62}"/>
              </a:ext>
            </a:extLst>
          </p:cNvPr>
          <p:cNvSpPr txBox="1"/>
          <p:nvPr/>
        </p:nvSpPr>
        <p:spPr>
          <a:xfrm>
            <a:off x="748145" y="1911927"/>
            <a:ext cx="4753839" cy="3970318"/>
          </a:xfrm>
          <a:prstGeom prst="rect">
            <a:avLst/>
          </a:prstGeom>
          <a:noFill/>
        </p:spPr>
        <p:txBody>
          <a:bodyPr wrap="square">
            <a:spAutoFit/>
          </a:bodyPr>
          <a:lstStyle/>
          <a:p>
            <a:pPr algn="l"/>
            <a:r>
              <a:rPr lang="en-US" sz="1400" b="1" i="0" dirty="0">
                <a:solidFill>
                  <a:srgbClr val="000000"/>
                </a:solidFill>
                <a:effectLst/>
                <a:latin typeface="Calibri" panose="020F0502020204030204" pitchFamily="34" charset="0"/>
              </a:rPr>
              <a:t>2</a:t>
            </a:r>
            <a:r>
              <a:rPr lang="en-US" sz="1400" b="0" i="0" dirty="0">
                <a:solidFill>
                  <a:srgbClr val="000000"/>
                </a:solidFill>
                <a:effectLst/>
                <a:latin typeface="Calibri" panose="020F0502020204030204" pitchFamily="34" charset="0"/>
              </a:rPr>
              <a:t>- were absolutely ready and had been thinking about it for a long time.   (</a:t>
            </a:r>
            <a:r>
              <a:rPr lang="en-US" sz="1400" b="0" i="0" dirty="0" err="1">
                <a:solidFill>
                  <a:srgbClr val="000000"/>
                </a:solidFill>
                <a:effectLst/>
                <a:latin typeface="Calibri" panose="020F0502020204030204" pitchFamily="34" charset="0"/>
              </a:rPr>
              <a:t>Letellier</a:t>
            </a:r>
            <a:r>
              <a:rPr lang="en-US" sz="1400" b="0" i="0" dirty="0">
                <a:solidFill>
                  <a:srgbClr val="000000"/>
                </a:solidFill>
                <a:effectLst/>
                <a:latin typeface="Calibri" panose="020F0502020204030204" pitchFamily="34" charset="0"/>
              </a:rPr>
              <a:t> and Spine)</a:t>
            </a:r>
          </a:p>
          <a:p>
            <a:pPr algn="l"/>
            <a:r>
              <a:rPr lang="en-US" sz="1400" b="1" i="0" dirty="0">
                <a:solidFill>
                  <a:srgbClr val="000000"/>
                </a:solidFill>
                <a:effectLst/>
                <a:latin typeface="Calibri" panose="020F0502020204030204" pitchFamily="34" charset="0"/>
              </a:rPr>
              <a:t>1</a:t>
            </a:r>
            <a:r>
              <a:rPr lang="en-US" sz="1400" b="0" i="0" dirty="0">
                <a:solidFill>
                  <a:srgbClr val="000000"/>
                </a:solidFill>
                <a:effectLst/>
                <a:latin typeface="Calibri" panose="020F0502020204030204" pitchFamily="34" charset="0"/>
              </a:rPr>
              <a:t>-he had been thinking about it for a long time but wouldn’t act and an affiliate referral and knowing me as a previous rep that called on him-pushed him to the finish line (Kretzschmar)</a:t>
            </a:r>
          </a:p>
          <a:p>
            <a:pPr algn="l"/>
            <a:r>
              <a:rPr lang="en-US" sz="1400" b="1" i="0" dirty="0">
                <a:solidFill>
                  <a:srgbClr val="000000"/>
                </a:solidFill>
                <a:effectLst/>
                <a:latin typeface="Calibri" panose="020F0502020204030204" pitchFamily="34" charset="0"/>
              </a:rPr>
              <a:t>1</a:t>
            </a:r>
            <a:r>
              <a:rPr lang="en-US" sz="1400" b="0" i="0" dirty="0">
                <a:solidFill>
                  <a:srgbClr val="000000"/>
                </a:solidFill>
                <a:effectLst/>
                <a:latin typeface="Calibri" panose="020F0502020204030204" pitchFamily="34" charset="0"/>
              </a:rPr>
              <a:t>-they had been looking at adding these services to their company as doctors and patients were expressing interest and I just happen to locate the inquiry to the previous rep who had not worked it and  I knew the upper management so I ran with it.  (THPG)</a:t>
            </a:r>
          </a:p>
          <a:p>
            <a:pPr algn="l"/>
            <a:r>
              <a:rPr lang="en-US" sz="1400" b="1" i="0" dirty="0">
                <a:solidFill>
                  <a:srgbClr val="000000"/>
                </a:solidFill>
                <a:effectLst/>
                <a:latin typeface="Calibri" panose="020F0502020204030204" pitchFamily="34" charset="0"/>
              </a:rPr>
              <a:t>1</a:t>
            </a:r>
            <a:r>
              <a:rPr lang="en-US" sz="1400" b="0" i="0" dirty="0">
                <a:solidFill>
                  <a:srgbClr val="000000"/>
                </a:solidFill>
                <a:effectLst/>
                <a:latin typeface="Calibri" panose="020F0502020204030204" pitchFamily="34" charset="0"/>
              </a:rPr>
              <a:t>-was a referral and had decided that she needed extra revenue in her practice and didn’t want to be bought out by any of the </a:t>
            </a:r>
            <a:r>
              <a:rPr lang="en-US" sz="1400" b="0" i="0" dirty="0" err="1">
                <a:solidFill>
                  <a:srgbClr val="000000"/>
                </a:solidFill>
                <a:effectLst/>
                <a:latin typeface="Calibri" panose="020F0502020204030204" pitchFamily="34" charset="0"/>
              </a:rPr>
              <a:t>corp</a:t>
            </a:r>
            <a:r>
              <a:rPr lang="en-US" sz="1400" b="0" i="0" dirty="0">
                <a:solidFill>
                  <a:srgbClr val="000000"/>
                </a:solidFill>
                <a:effectLst/>
                <a:latin typeface="Calibri" panose="020F0502020204030204" pitchFamily="34" charset="0"/>
              </a:rPr>
              <a:t> entities so she felt this would be good for her bottom line and she could slow down too. She was excited when I signed her (Jacqueline Le) but during the transition I am not sure what happened-but she was not very cooperative with the transition team and after a few weeks it was decided to shut down.</a:t>
            </a:r>
          </a:p>
        </p:txBody>
      </p:sp>
      <p:sp>
        <p:nvSpPr>
          <p:cNvPr id="6" name="TextBox 5">
            <a:extLst>
              <a:ext uri="{FF2B5EF4-FFF2-40B4-BE49-F238E27FC236}">
                <a16:creationId xmlns:a16="http://schemas.microsoft.com/office/drawing/2014/main" id="{5795992F-4DDD-AA96-94EB-AB4B9D2AC968}"/>
              </a:ext>
            </a:extLst>
          </p:cNvPr>
          <p:cNvSpPr txBox="1"/>
          <p:nvPr/>
        </p:nvSpPr>
        <p:spPr>
          <a:xfrm>
            <a:off x="5758295" y="1911927"/>
            <a:ext cx="6177394" cy="2031325"/>
          </a:xfrm>
          <a:prstGeom prst="rect">
            <a:avLst/>
          </a:prstGeom>
          <a:noFill/>
        </p:spPr>
        <p:txBody>
          <a:bodyPr wrap="square">
            <a:spAutoFit/>
          </a:bodyPr>
          <a:lstStyle/>
          <a:p>
            <a:r>
              <a:rPr lang="en-US" b="1" i="0" dirty="0">
                <a:solidFill>
                  <a:srgbClr val="000000"/>
                </a:solidFill>
                <a:effectLst/>
                <a:latin typeface="Calibri" panose="020F0502020204030204" pitchFamily="34" charset="0"/>
              </a:rPr>
              <a:t>Why we WIN deals</a:t>
            </a:r>
            <a:r>
              <a:rPr lang="en-US" b="0" i="0" dirty="0">
                <a:solidFill>
                  <a:srgbClr val="000000"/>
                </a:solidFill>
                <a:effectLst/>
                <a:latin typeface="Calibri" panose="020F0502020204030204" pitchFamily="34" charset="0"/>
              </a:rPr>
              <a:t> – Well, as you know, I haven’t won a deal yet, but I’m working hard to get one for sure! Dr Romanowski Hurt! How I’m moving some providers through our process is by selling the concierge article. Membership medicine is the wave of the future, and so many providers our looking into it, so why not you? And why not we </a:t>
            </a:r>
            <a:r>
              <a:rPr lang="en-US" b="0" i="0" dirty="0" err="1">
                <a:solidFill>
                  <a:srgbClr val="000000"/>
                </a:solidFill>
                <a:effectLst/>
                <a:latin typeface="Calibri" panose="020F0502020204030204" pitchFamily="34" charset="0"/>
              </a:rPr>
              <a:t>SignatureMD</a:t>
            </a:r>
            <a:r>
              <a:rPr lang="en-US" b="0" i="0" dirty="0">
                <a:solidFill>
                  <a:srgbClr val="000000"/>
                </a:solidFill>
                <a:effectLst/>
                <a:latin typeface="Calibri" panose="020F0502020204030204" pitchFamily="34" charset="0"/>
              </a:rPr>
              <a:t>? We are the leader the membership-based medicine. You will hear more in my </a:t>
            </a:r>
            <a:r>
              <a:rPr lang="en-US" b="0" i="0" dirty="0" err="1">
                <a:solidFill>
                  <a:srgbClr val="000000"/>
                </a:solidFill>
                <a:effectLst/>
                <a:latin typeface="Calibri" panose="020F0502020204030204" pitchFamily="34" charset="0"/>
              </a:rPr>
              <a:t>Vidyard</a:t>
            </a:r>
            <a:r>
              <a:rPr lang="en-US" b="0" i="0" dirty="0">
                <a:solidFill>
                  <a:srgbClr val="000000"/>
                </a:solidFill>
                <a:effectLst/>
                <a:latin typeface="Calibri" panose="020F0502020204030204" pitchFamily="34" charset="0"/>
              </a:rPr>
              <a:t>.</a:t>
            </a:r>
            <a:endParaRPr lang="en-US" dirty="0"/>
          </a:p>
        </p:txBody>
      </p:sp>
    </p:spTree>
    <p:extLst>
      <p:ext uri="{BB962C8B-B14F-4D97-AF65-F5344CB8AC3E}">
        <p14:creationId xmlns:p14="http://schemas.microsoft.com/office/powerpoint/2010/main" val="1055945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with low confidence">
            <a:extLst>
              <a:ext uri="{FF2B5EF4-FFF2-40B4-BE49-F238E27FC236}">
                <a16:creationId xmlns:a16="http://schemas.microsoft.com/office/drawing/2014/main" id="{A6B0595E-5A07-4349-BD89-F8E0CD87E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15AB7C6D-C19B-498A-8BCE-50DB3A5D9552}"/>
              </a:ext>
            </a:extLst>
          </p:cNvPr>
          <p:cNvSpPr txBox="1">
            <a:spLocks/>
          </p:cNvSpPr>
          <p:nvPr/>
        </p:nvSpPr>
        <p:spPr>
          <a:xfrm>
            <a:off x="0" y="420417"/>
            <a:ext cx="10171415"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Why we lose</a:t>
            </a:r>
          </a:p>
        </p:txBody>
      </p:sp>
      <p:sp>
        <p:nvSpPr>
          <p:cNvPr id="3" name="TextBox 2">
            <a:extLst>
              <a:ext uri="{FF2B5EF4-FFF2-40B4-BE49-F238E27FC236}">
                <a16:creationId xmlns:a16="http://schemas.microsoft.com/office/drawing/2014/main" id="{6A396041-CB15-4086-CF03-44B4F041112A}"/>
              </a:ext>
            </a:extLst>
          </p:cNvPr>
          <p:cNvSpPr txBox="1"/>
          <p:nvPr/>
        </p:nvSpPr>
        <p:spPr>
          <a:xfrm>
            <a:off x="256403" y="1707455"/>
            <a:ext cx="3512408" cy="4524315"/>
          </a:xfrm>
          <a:prstGeom prst="rect">
            <a:avLst/>
          </a:prstGeom>
          <a:noFill/>
        </p:spPr>
        <p:txBody>
          <a:bodyPr wrap="square">
            <a:spAutoFit/>
          </a:bodyPr>
          <a:lstStyle/>
          <a:p>
            <a:pPr algn="l"/>
            <a:r>
              <a:rPr lang="en-US" sz="1800" b="0" i="0" dirty="0">
                <a:solidFill>
                  <a:srgbClr val="000000"/>
                </a:solidFill>
                <a:effectLst/>
                <a:latin typeface="Calibri" panose="020F0502020204030204" pitchFamily="34" charset="0"/>
              </a:rPr>
              <a:t>Why we lose:</a:t>
            </a:r>
          </a:p>
          <a:p>
            <a:pPr algn="l"/>
            <a:r>
              <a:rPr lang="en-US" sz="1800" b="0" i="0" dirty="0">
                <a:solidFill>
                  <a:srgbClr val="000000"/>
                </a:solidFill>
                <a:effectLst/>
                <a:latin typeface="Calibri" panose="020F0502020204030204" pitchFamily="34" charset="0"/>
              </a:rPr>
              <a:t>*DIY – their colleagues have done it successfully on their own.</a:t>
            </a:r>
          </a:p>
          <a:p>
            <a:pPr algn="l"/>
            <a:r>
              <a:rPr lang="en-US" sz="1800" b="0" i="0" dirty="0">
                <a:solidFill>
                  <a:srgbClr val="000000"/>
                </a:solidFill>
                <a:effectLst/>
                <a:latin typeface="Calibri" panose="020F0502020204030204" pitchFamily="34" charset="0"/>
              </a:rPr>
              <a:t>*No identifiable pain points – they’re making great money, have a solid system and don’t put in extra hours, etc.</a:t>
            </a:r>
          </a:p>
          <a:p>
            <a:pPr algn="l"/>
            <a:r>
              <a:rPr lang="en-US" sz="1800" b="0" i="0" dirty="0">
                <a:solidFill>
                  <a:srgbClr val="000000"/>
                </a:solidFill>
                <a:effectLst/>
                <a:latin typeface="Calibri" panose="020F0502020204030204" pitchFamily="34" charset="0"/>
              </a:rPr>
              <a:t>*Projections too low or inaccurate to compete – I have lost two large deals due to our projections being so much lower than competition.</a:t>
            </a:r>
          </a:p>
          <a:p>
            <a:pPr algn="l"/>
            <a:r>
              <a:rPr lang="en-US" sz="1800" b="0" i="0" dirty="0">
                <a:solidFill>
                  <a:srgbClr val="000000"/>
                </a:solidFill>
                <a:effectLst/>
                <a:latin typeface="Calibri" panose="020F0502020204030204" pitchFamily="34" charset="0"/>
              </a:rPr>
              <a:t>*We’re missing deals (not necessarily losing) to compete with MDVIP due to them not knowing about SMD or knowing there is a better option.</a:t>
            </a:r>
          </a:p>
        </p:txBody>
      </p:sp>
      <p:sp>
        <p:nvSpPr>
          <p:cNvPr id="6" name="TextBox 5">
            <a:extLst>
              <a:ext uri="{FF2B5EF4-FFF2-40B4-BE49-F238E27FC236}">
                <a16:creationId xmlns:a16="http://schemas.microsoft.com/office/drawing/2014/main" id="{53ED98FA-53B8-2953-9709-DD703453DD2B}"/>
              </a:ext>
            </a:extLst>
          </p:cNvPr>
          <p:cNvSpPr txBox="1"/>
          <p:nvPr/>
        </p:nvSpPr>
        <p:spPr>
          <a:xfrm>
            <a:off x="3974502" y="1821012"/>
            <a:ext cx="4279811" cy="4832092"/>
          </a:xfrm>
          <a:prstGeom prst="rect">
            <a:avLst/>
          </a:prstGeom>
          <a:noFill/>
        </p:spPr>
        <p:txBody>
          <a:bodyPr wrap="square">
            <a:spAutoFit/>
          </a:bodyPr>
          <a:lstStyle/>
          <a:p>
            <a:pPr algn="l"/>
            <a:r>
              <a:rPr lang="en-US" sz="1400" b="0" i="0" dirty="0">
                <a:solidFill>
                  <a:srgbClr val="000000"/>
                </a:solidFill>
                <a:effectLst/>
                <a:latin typeface="Calibri" panose="020F0502020204030204" pitchFamily="34" charset="0"/>
              </a:rPr>
              <a:t>Why we LOSE deals: (Presuming you mean to a direct competitor)</a:t>
            </a:r>
          </a:p>
          <a:p>
            <a:pPr algn="l"/>
            <a:r>
              <a:rPr lang="en-US" sz="1400" b="0" i="0" dirty="0">
                <a:solidFill>
                  <a:srgbClr val="000000"/>
                </a:solidFill>
                <a:effectLst/>
                <a:latin typeface="Calibri" panose="020F0502020204030204" pitchFamily="34" charset="0"/>
              </a:rPr>
              <a:t> </a:t>
            </a:r>
          </a:p>
          <a:p>
            <a:pPr algn="l">
              <a:buFont typeface="+mj-lt"/>
              <a:buAutoNum type="arabicPeriod"/>
            </a:pPr>
            <a:r>
              <a:rPr lang="en-US" sz="1400" b="0" i="0" dirty="0">
                <a:solidFill>
                  <a:srgbClr val="000000"/>
                </a:solidFill>
                <a:effectLst/>
                <a:latin typeface="Calibri" panose="020F0502020204030204" pitchFamily="34" charset="0"/>
              </a:rPr>
              <a:t>Mediocrity across key channels of salesmanship:</a:t>
            </a:r>
          </a:p>
          <a:p>
            <a:pPr marL="742950" lvl="1" indent="-285750" algn="l">
              <a:buFont typeface="+mj-lt"/>
              <a:buAutoNum type="alphaLcPeriod"/>
            </a:pPr>
            <a:r>
              <a:rPr lang="en-US" sz="1400" b="0" i="0" dirty="0">
                <a:solidFill>
                  <a:srgbClr val="000000"/>
                </a:solidFill>
                <a:effectLst/>
                <a:latin typeface="Calibri" panose="020F0502020204030204" pitchFamily="34" charset="0"/>
              </a:rPr>
              <a:t>Lack of consistent, timely follow up</a:t>
            </a:r>
          </a:p>
          <a:p>
            <a:pPr marL="742950" lvl="1" indent="-285750" algn="l">
              <a:buFont typeface="+mj-lt"/>
              <a:buAutoNum type="alphaLcPeriod"/>
            </a:pPr>
            <a:r>
              <a:rPr lang="en-US" sz="1400" b="0" i="0" dirty="0">
                <a:solidFill>
                  <a:srgbClr val="000000"/>
                </a:solidFill>
                <a:effectLst/>
                <a:latin typeface="Calibri" panose="020F0502020204030204" pitchFamily="34" charset="0"/>
              </a:rPr>
              <a:t>Failure to build the personal relationship better than the competitor (spousal involvement, truly unique targeted interactions, mutual self- disclosure, etc.)</a:t>
            </a:r>
          </a:p>
          <a:p>
            <a:pPr marL="742950" lvl="1" indent="-285750" algn="l">
              <a:buFont typeface="+mj-lt"/>
              <a:buAutoNum type="alphaLcPeriod"/>
            </a:pPr>
            <a:r>
              <a:rPr lang="en-US" sz="1400" b="0" i="0" dirty="0">
                <a:solidFill>
                  <a:srgbClr val="000000"/>
                </a:solidFill>
                <a:effectLst/>
                <a:latin typeface="Calibri" panose="020F0502020204030204" pitchFamily="34" charset="0"/>
              </a:rPr>
              <a:t>Lack in understanding the individual physician’s TRUE pain points, and inability to properly explain how we can fix them specifically.</a:t>
            </a:r>
          </a:p>
          <a:p>
            <a:pPr algn="l">
              <a:buFont typeface="+mj-lt"/>
              <a:buAutoNum type="arabicPeriod"/>
            </a:pPr>
            <a:r>
              <a:rPr lang="en-US" sz="1400" b="0" i="0" dirty="0">
                <a:solidFill>
                  <a:srgbClr val="000000"/>
                </a:solidFill>
                <a:effectLst/>
                <a:latin typeface="Calibri" panose="020F0502020204030204" pitchFamily="34" charset="0"/>
              </a:rPr>
              <a:t>Underusage of existing affiliates to help position and sell the model, doctor to doctor. (This is a </a:t>
            </a:r>
            <a:r>
              <a:rPr lang="en-US" sz="1400" b="1" i="0" u="sng" dirty="0">
                <a:solidFill>
                  <a:srgbClr val="000000"/>
                </a:solidFill>
                <a:effectLst/>
                <a:latin typeface="Calibri" panose="020F0502020204030204" pitchFamily="34" charset="0"/>
              </a:rPr>
              <a:t>MANDATORY</a:t>
            </a:r>
            <a:r>
              <a:rPr lang="en-US" sz="1400" b="0" i="0" dirty="0">
                <a:solidFill>
                  <a:srgbClr val="000000"/>
                </a:solidFill>
                <a:effectLst/>
                <a:latin typeface="Calibri" panose="020F0502020204030204" pitchFamily="34" charset="0"/>
              </a:rPr>
              <a:t> component with our largest competitor)</a:t>
            </a:r>
          </a:p>
          <a:p>
            <a:pPr algn="l">
              <a:buFont typeface="+mj-lt"/>
              <a:buAutoNum type="arabicPeriod"/>
            </a:pPr>
            <a:r>
              <a:rPr lang="en-US" sz="1400" b="0" i="0" dirty="0">
                <a:solidFill>
                  <a:srgbClr val="000000"/>
                </a:solidFill>
                <a:effectLst/>
                <a:latin typeface="Calibri" panose="020F0502020204030204" pitchFamily="34" charset="0"/>
              </a:rPr>
              <a:t>Complacency that it is just “going to happen” because of what you feel, or have been told. There are a million reasons why a prospect can go quiet, but there is only one important reason as to why they eventually stay quiet: the competition has gotten in there and is taking </a:t>
            </a:r>
            <a:r>
              <a:rPr lang="en-US" sz="1400" b="0" i="1" dirty="0">
                <a:solidFill>
                  <a:srgbClr val="000000"/>
                </a:solidFill>
                <a:effectLst/>
                <a:latin typeface="Calibri" panose="020F0502020204030204" pitchFamily="34" charset="0"/>
              </a:rPr>
              <a:t>your</a:t>
            </a:r>
            <a:r>
              <a:rPr lang="en-US" sz="1400" b="0" i="0" dirty="0">
                <a:solidFill>
                  <a:srgbClr val="000000"/>
                </a:solidFill>
                <a:effectLst/>
                <a:latin typeface="Calibri" panose="020F0502020204030204" pitchFamily="34" charset="0"/>
              </a:rPr>
              <a:t> stake to the claim of a signature.</a:t>
            </a:r>
          </a:p>
        </p:txBody>
      </p:sp>
      <p:sp>
        <p:nvSpPr>
          <p:cNvPr id="11" name="TextBox 10">
            <a:extLst>
              <a:ext uri="{FF2B5EF4-FFF2-40B4-BE49-F238E27FC236}">
                <a16:creationId xmlns:a16="http://schemas.microsoft.com/office/drawing/2014/main" id="{F9549190-8297-BD1E-C6AE-16119094B221}"/>
              </a:ext>
            </a:extLst>
          </p:cNvPr>
          <p:cNvSpPr txBox="1"/>
          <p:nvPr/>
        </p:nvSpPr>
        <p:spPr>
          <a:xfrm>
            <a:off x="8254313" y="1821012"/>
            <a:ext cx="3505200" cy="3139321"/>
          </a:xfrm>
          <a:prstGeom prst="rect">
            <a:avLst/>
          </a:prstGeom>
          <a:noFill/>
        </p:spPr>
        <p:txBody>
          <a:bodyPr wrap="square">
            <a:spAutoFit/>
          </a:bodyPr>
          <a:lstStyle/>
          <a:p>
            <a:r>
              <a:rPr lang="en-US" b="0" i="0" dirty="0">
                <a:solidFill>
                  <a:srgbClr val="000000"/>
                </a:solidFill>
                <a:effectLst/>
                <a:latin typeface="Calibri" panose="020F0502020204030204" pitchFamily="34" charset="0"/>
              </a:rPr>
              <a:t>I believe we LOSE deals when we get complacent. Maybe we assume it’s in the bag and allow a competitor to get their foot in the door or stop showing up for our doctor like we did when we were first pursuing the account. We have to continue adding value to our doctors well beyond our initial interactions and after the contract is signed.</a:t>
            </a:r>
            <a:endParaRPr lang="en-US" dirty="0"/>
          </a:p>
        </p:txBody>
      </p:sp>
    </p:spTree>
    <p:extLst>
      <p:ext uri="{BB962C8B-B14F-4D97-AF65-F5344CB8AC3E}">
        <p14:creationId xmlns:p14="http://schemas.microsoft.com/office/powerpoint/2010/main" val="4194044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with low confidence">
            <a:extLst>
              <a:ext uri="{FF2B5EF4-FFF2-40B4-BE49-F238E27FC236}">
                <a16:creationId xmlns:a16="http://schemas.microsoft.com/office/drawing/2014/main" id="{A6B0595E-5A07-4349-BD89-F8E0CD87E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15AB7C6D-C19B-498A-8BCE-50DB3A5D9552}"/>
              </a:ext>
            </a:extLst>
          </p:cNvPr>
          <p:cNvSpPr txBox="1">
            <a:spLocks/>
          </p:cNvSpPr>
          <p:nvPr/>
        </p:nvSpPr>
        <p:spPr>
          <a:xfrm>
            <a:off x="0" y="420417"/>
            <a:ext cx="10171415"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Why we lose</a:t>
            </a:r>
          </a:p>
        </p:txBody>
      </p:sp>
      <p:sp>
        <p:nvSpPr>
          <p:cNvPr id="5" name="TextBox 4">
            <a:extLst>
              <a:ext uri="{FF2B5EF4-FFF2-40B4-BE49-F238E27FC236}">
                <a16:creationId xmlns:a16="http://schemas.microsoft.com/office/drawing/2014/main" id="{529416EB-33F7-09C7-F1B5-0F17A9B6EDE5}"/>
              </a:ext>
            </a:extLst>
          </p:cNvPr>
          <p:cNvSpPr txBox="1"/>
          <p:nvPr/>
        </p:nvSpPr>
        <p:spPr>
          <a:xfrm>
            <a:off x="206976" y="1789704"/>
            <a:ext cx="6196912" cy="1477328"/>
          </a:xfrm>
          <a:prstGeom prst="rect">
            <a:avLst/>
          </a:prstGeom>
          <a:noFill/>
        </p:spPr>
        <p:txBody>
          <a:bodyPr wrap="square">
            <a:spAutoFit/>
          </a:bodyPr>
          <a:lstStyle/>
          <a:p>
            <a:pPr marL="0" marR="0" algn="l">
              <a:spcBef>
                <a:spcPts val="0"/>
              </a:spcBef>
              <a:spcAft>
                <a:spcPts val="0"/>
              </a:spcAft>
            </a:pPr>
            <a:r>
              <a:rPr lang="en-US" sz="1800" b="0" i="0" dirty="0">
                <a:solidFill>
                  <a:srgbClr val="000000"/>
                </a:solidFill>
                <a:effectLst/>
                <a:latin typeface="inherit"/>
              </a:rPr>
              <a:t>Poor understanding of needs- weak product knowledge- not enough pain- not understanding your value add-lack of trust or credibility.</a:t>
            </a:r>
            <a:endParaRPr lang="en-US" sz="1600" b="0" i="0" dirty="0">
              <a:solidFill>
                <a:srgbClr val="000000"/>
              </a:solidFill>
              <a:effectLst/>
              <a:latin typeface="Calibri" panose="020F0502020204030204" pitchFamily="34" charset="0"/>
            </a:endParaRPr>
          </a:p>
          <a:p>
            <a:pPr marL="0" marR="0" algn="l">
              <a:spcBef>
                <a:spcPts val="0"/>
              </a:spcBef>
              <a:spcAft>
                <a:spcPts val="0"/>
              </a:spcAft>
            </a:pPr>
            <a:r>
              <a:rPr lang="en-US" sz="1800" b="0" i="0" dirty="0">
                <a:solidFill>
                  <a:srgbClr val="000000"/>
                </a:solidFill>
                <a:effectLst/>
                <a:latin typeface="inherit"/>
              </a:rPr>
              <a:t>Not addressing Objections fully- poor follow-up- poor qualification- not being flexible</a:t>
            </a:r>
            <a:endParaRPr lang="en-US" sz="1600" b="0" i="0" dirty="0">
              <a:solidFill>
                <a:srgbClr val="000000"/>
              </a:solidFill>
              <a:effectLst/>
              <a:latin typeface="Calibri" panose="020F0502020204030204" pitchFamily="34" charset="0"/>
            </a:endParaRPr>
          </a:p>
        </p:txBody>
      </p:sp>
      <p:sp>
        <p:nvSpPr>
          <p:cNvPr id="9" name="TextBox 8">
            <a:extLst>
              <a:ext uri="{FF2B5EF4-FFF2-40B4-BE49-F238E27FC236}">
                <a16:creationId xmlns:a16="http://schemas.microsoft.com/office/drawing/2014/main" id="{63B59845-EAA1-E7DD-5329-513B07FDCF05}"/>
              </a:ext>
            </a:extLst>
          </p:cNvPr>
          <p:cNvSpPr txBox="1"/>
          <p:nvPr/>
        </p:nvSpPr>
        <p:spPr>
          <a:xfrm>
            <a:off x="5698672" y="3267032"/>
            <a:ext cx="6097554" cy="3139321"/>
          </a:xfrm>
          <a:prstGeom prst="rect">
            <a:avLst/>
          </a:prstGeom>
          <a:noFill/>
        </p:spPr>
        <p:txBody>
          <a:bodyPr wrap="square">
            <a:spAutoFit/>
          </a:bodyPr>
          <a:lstStyle/>
          <a:p>
            <a:pPr algn="l"/>
            <a:r>
              <a:rPr lang="en-US" sz="1800" b="0" i="0" dirty="0">
                <a:solidFill>
                  <a:srgbClr val="000000"/>
                </a:solidFill>
                <a:effectLst/>
                <a:latin typeface="Calibri" panose="020F0502020204030204" pitchFamily="34" charset="0"/>
              </a:rPr>
              <a:t>The deals why they HAVE NOT closed-here’s the reasons why</a:t>
            </a:r>
          </a:p>
          <a:p>
            <a:pPr algn="l">
              <a:buFont typeface="+mj-lt"/>
              <a:buAutoNum type="arabicPeriod"/>
            </a:pPr>
            <a:r>
              <a:rPr lang="en-US" sz="1800" b="0" i="0" dirty="0">
                <a:solidFill>
                  <a:srgbClr val="000000"/>
                </a:solidFill>
                <a:effectLst/>
                <a:latin typeface="Calibri" panose="020F0502020204030204" pitchFamily="34" charset="0"/>
              </a:rPr>
              <a:t>Not emotionally ready</a:t>
            </a:r>
          </a:p>
          <a:p>
            <a:pPr algn="l">
              <a:buFont typeface="+mj-lt"/>
              <a:buAutoNum type="arabicPeriod"/>
            </a:pPr>
            <a:r>
              <a:rPr lang="en-US" sz="1800" b="0" i="0" dirty="0">
                <a:solidFill>
                  <a:srgbClr val="000000"/>
                </a:solidFill>
                <a:effectLst/>
                <a:latin typeface="Calibri" panose="020F0502020204030204" pitchFamily="34" charset="0"/>
              </a:rPr>
              <a:t>They are bought in but spouse or friends/family are not and wont support</a:t>
            </a:r>
          </a:p>
          <a:p>
            <a:pPr algn="l">
              <a:buFont typeface="+mj-lt"/>
              <a:buAutoNum type="arabicPeriod"/>
            </a:pPr>
            <a:r>
              <a:rPr lang="en-US" sz="1800" b="0" i="0" dirty="0">
                <a:solidFill>
                  <a:srgbClr val="000000"/>
                </a:solidFill>
                <a:effectLst/>
                <a:latin typeface="Calibri" panose="020F0502020204030204" pitchFamily="34" charset="0"/>
              </a:rPr>
              <a:t>Morally not able</a:t>
            </a:r>
          </a:p>
          <a:p>
            <a:pPr algn="l">
              <a:buFont typeface="+mj-lt"/>
              <a:buAutoNum type="arabicPeriod"/>
            </a:pPr>
            <a:r>
              <a:rPr lang="en-US" sz="1800" b="0" i="0" dirty="0">
                <a:solidFill>
                  <a:srgbClr val="000000"/>
                </a:solidFill>
                <a:effectLst/>
                <a:latin typeface="Calibri" panose="020F0502020204030204" pitchFamily="34" charset="0"/>
              </a:rPr>
              <a:t>Practice or personal issues need to work through</a:t>
            </a:r>
          </a:p>
          <a:p>
            <a:pPr algn="l">
              <a:buFont typeface="+mj-lt"/>
              <a:buAutoNum type="arabicPeriod"/>
            </a:pPr>
            <a:r>
              <a:rPr lang="en-US" sz="1800" b="0" i="0" dirty="0">
                <a:solidFill>
                  <a:srgbClr val="000000"/>
                </a:solidFill>
                <a:effectLst/>
                <a:latin typeface="Calibri" panose="020F0502020204030204" pitchFamily="34" charset="0"/>
              </a:rPr>
              <a:t>Contract issues (didn’t like terms)</a:t>
            </a:r>
          </a:p>
          <a:p>
            <a:pPr algn="l">
              <a:buFont typeface="+mj-lt"/>
              <a:buAutoNum type="arabicPeriod"/>
            </a:pPr>
            <a:r>
              <a:rPr lang="en-US" sz="1800" b="0" i="0" dirty="0">
                <a:solidFill>
                  <a:srgbClr val="000000"/>
                </a:solidFill>
                <a:effectLst/>
                <a:latin typeface="Calibri" panose="020F0502020204030204" pitchFamily="34" charset="0"/>
              </a:rPr>
              <a:t>Either a board or like </a:t>
            </a:r>
            <a:r>
              <a:rPr lang="en-US" sz="1800" b="0" i="0" dirty="0" err="1">
                <a:solidFill>
                  <a:srgbClr val="000000"/>
                </a:solidFill>
                <a:effectLst/>
                <a:latin typeface="Calibri" panose="020F0502020204030204" pitchFamily="34" charset="0"/>
              </a:rPr>
              <a:t>Privia</a:t>
            </a:r>
            <a:r>
              <a:rPr lang="en-US" sz="1800" b="0" i="0" dirty="0">
                <a:solidFill>
                  <a:srgbClr val="000000"/>
                </a:solidFill>
                <a:effectLst/>
                <a:latin typeface="Calibri" panose="020F0502020204030204" pitchFamily="34" charset="0"/>
              </a:rPr>
              <a:t> legal blocks</a:t>
            </a:r>
          </a:p>
          <a:p>
            <a:pPr algn="l">
              <a:buFont typeface="+mj-lt"/>
              <a:buAutoNum type="arabicPeriod"/>
            </a:pPr>
            <a:r>
              <a:rPr lang="en-US" sz="1800" b="0" i="0" dirty="0">
                <a:solidFill>
                  <a:srgbClr val="000000"/>
                </a:solidFill>
                <a:effectLst/>
                <a:latin typeface="Calibri" panose="020F0502020204030204" pitchFamily="34" charset="0"/>
              </a:rPr>
              <a:t>Demographics too low</a:t>
            </a:r>
          </a:p>
          <a:p>
            <a:pPr algn="l">
              <a:buFont typeface="+mj-lt"/>
              <a:buAutoNum type="arabicPeriod"/>
            </a:pPr>
            <a:r>
              <a:rPr lang="en-US" sz="1800" b="0" i="0" dirty="0">
                <a:solidFill>
                  <a:srgbClr val="000000"/>
                </a:solidFill>
                <a:effectLst/>
                <a:latin typeface="Calibri" panose="020F0502020204030204" pitchFamily="34" charset="0"/>
              </a:rPr>
              <a:t>Want to do a hybrid approach only and not hire a midlevel</a:t>
            </a:r>
          </a:p>
          <a:p>
            <a:pPr algn="l">
              <a:buFont typeface="+mj-lt"/>
              <a:buAutoNum type="arabicPeriod"/>
            </a:pPr>
            <a:r>
              <a:rPr lang="en-US" sz="1800" b="0" i="0" dirty="0">
                <a:solidFill>
                  <a:srgbClr val="000000"/>
                </a:solidFill>
                <a:effectLst/>
                <a:latin typeface="Calibri" panose="020F0502020204030204" pitchFamily="34" charset="0"/>
              </a:rPr>
              <a:t>Got a great offer of a buy out from a company</a:t>
            </a:r>
          </a:p>
        </p:txBody>
      </p:sp>
    </p:spTree>
    <p:extLst>
      <p:ext uri="{BB962C8B-B14F-4D97-AF65-F5344CB8AC3E}">
        <p14:creationId xmlns:p14="http://schemas.microsoft.com/office/powerpoint/2010/main" val="3774355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with low confidence">
            <a:extLst>
              <a:ext uri="{FF2B5EF4-FFF2-40B4-BE49-F238E27FC236}">
                <a16:creationId xmlns:a16="http://schemas.microsoft.com/office/drawing/2014/main" id="{A6B0595E-5A07-4349-BD89-F8E0CD87E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15AB7C6D-C19B-498A-8BCE-50DB3A5D9552}"/>
              </a:ext>
            </a:extLst>
          </p:cNvPr>
          <p:cNvSpPr txBox="1">
            <a:spLocks/>
          </p:cNvSpPr>
          <p:nvPr/>
        </p:nvSpPr>
        <p:spPr>
          <a:xfrm>
            <a:off x="0" y="420417"/>
            <a:ext cx="10171415"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Why Deals Stall</a:t>
            </a:r>
          </a:p>
        </p:txBody>
      </p:sp>
      <p:sp>
        <p:nvSpPr>
          <p:cNvPr id="3" name="TextBox 2">
            <a:extLst>
              <a:ext uri="{FF2B5EF4-FFF2-40B4-BE49-F238E27FC236}">
                <a16:creationId xmlns:a16="http://schemas.microsoft.com/office/drawing/2014/main" id="{CEA25819-3061-AE43-3EF0-3EC4F87F7D7B}"/>
              </a:ext>
            </a:extLst>
          </p:cNvPr>
          <p:cNvSpPr txBox="1"/>
          <p:nvPr/>
        </p:nvSpPr>
        <p:spPr>
          <a:xfrm>
            <a:off x="370892" y="1883525"/>
            <a:ext cx="6097554" cy="646331"/>
          </a:xfrm>
          <a:prstGeom prst="rect">
            <a:avLst/>
          </a:prstGeom>
          <a:noFill/>
        </p:spPr>
        <p:txBody>
          <a:bodyPr wrap="square">
            <a:spAutoFit/>
          </a:bodyPr>
          <a:lstStyle/>
          <a:p>
            <a:r>
              <a:rPr lang="en-US" b="0" i="0">
                <a:solidFill>
                  <a:srgbClr val="000000"/>
                </a:solidFill>
                <a:effectLst/>
                <a:latin typeface="Calibri" panose="020F0502020204030204" pitchFamily="34" charset="0"/>
              </a:rPr>
              <a:t>STALL- lengthy decision making process-other priorities – lack of trust- not following up engagement</a:t>
            </a:r>
            <a:endParaRPr lang="en-US" dirty="0"/>
          </a:p>
        </p:txBody>
      </p:sp>
      <p:sp>
        <p:nvSpPr>
          <p:cNvPr id="8" name="TextBox 7">
            <a:extLst>
              <a:ext uri="{FF2B5EF4-FFF2-40B4-BE49-F238E27FC236}">
                <a16:creationId xmlns:a16="http://schemas.microsoft.com/office/drawing/2014/main" id="{73ADDABB-69CF-D7D0-77CC-7F94B25AADFF}"/>
              </a:ext>
            </a:extLst>
          </p:cNvPr>
          <p:cNvSpPr txBox="1"/>
          <p:nvPr/>
        </p:nvSpPr>
        <p:spPr>
          <a:xfrm>
            <a:off x="296246" y="2732352"/>
            <a:ext cx="6172200" cy="2308324"/>
          </a:xfrm>
          <a:prstGeom prst="rect">
            <a:avLst/>
          </a:prstGeom>
          <a:noFill/>
        </p:spPr>
        <p:txBody>
          <a:bodyPr wrap="square">
            <a:spAutoFit/>
          </a:bodyPr>
          <a:lstStyle/>
          <a:p>
            <a:r>
              <a:rPr lang="en-US" sz="1600" b="1" i="0" dirty="0">
                <a:solidFill>
                  <a:srgbClr val="000000"/>
                </a:solidFill>
                <a:effectLst/>
                <a:latin typeface="Calibri" panose="020F0502020204030204" pitchFamily="34" charset="0"/>
              </a:rPr>
              <a:t>Why deals STALL or slip</a:t>
            </a:r>
            <a:r>
              <a:rPr lang="en-US" sz="1600" b="0" i="0" dirty="0">
                <a:solidFill>
                  <a:srgbClr val="000000"/>
                </a:solidFill>
                <a:effectLst/>
                <a:latin typeface="Calibri" panose="020F0502020204030204" pitchFamily="34" charset="0"/>
              </a:rPr>
              <a:t> – I have heard multiple times “morally and ethically” I can’t leave my patients, it’s just not the right time, every independent provider I have spoken to has mentioned some hospital group trying to buy their practice. You all know the incentives they throw at these providers. They make it very enticing for them. Dr Chakrabarti said to me he is tired of managing his practice. This was mostly about trying to hire good people. Also, multiple providers are trying to hire a qualified NP, and their having a difficult time. This is a big one for sure!</a:t>
            </a:r>
            <a:endParaRPr lang="en-US" sz="1600" dirty="0"/>
          </a:p>
        </p:txBody>
      </p:sp>
      <p:sp>
        <p:nvSpPr>
          <p:cNvPr id="10" name="TextBox 9">
            <a:extLst>
              <a:ext uri="{FF2B5EF4-FFF2-40B4-BE49-F238E27FC236}">
                <a16:creationId xmlns:a16="http://schemas.microsoft.com/office/drawing/2014/main" id="{6857779D-D446-D6C7-ED0F-112CED075C25}"/>
              </a:ext>
            </a:extLst>
          </p:cNvPr>
          <p:cNvSpPr txBox="1"/>
          <p:nvPr/>
        </p:nvSpPr>
        <p:spPr>
          <a:xfrm>
            <a:off x="6468446" y="1771558"/>
            <a:ext cx="4986434" cy="2031325"/>
          </a:xfrm>
          <a:prstGeom prst="rect">
            <a:avLst/>
          </a:prstGeom>
          <a:noFill/>
        </p:spPr>
        <p:txBody>
          <a:bodyPr wrap="square">
            <a:spAutoFit/>
          </a:bodyPr>
          <a:lstStyle/>
          <a:p>
            <a:pPr algn="l"/>
            <a:r>
              <a:rPr lang="en-US" sz="1400" b="0" i="0" dirty="0">
                <a:solidFill>
                  <a:srgbClr val="000000"/>
                </a:solidFill>
                <a:effectLst/>
                <a:latin typeface="Calibri" panose="020F0502020204030204" pitchFamily="34" charset="0"/>
              </a:rPr>
              <a:t>Why we stall:</a:t>
            </a:r>
          </a:p>
          <a:p>
            <a:pPr algn="l"/>
            <a:r>
              <a:rPr lang="en-US" sz="1400" b="0" i="0" dirty="0">
                <a:solidFill>
                  <a:srgbClr val="000000"/>
                </a:solidFill>
                <a:effectLst/>
                <a:latin typeface="Calibri" panose="020F0502020204030204" pitchFamily="34" charset="0"/>
              </a:rPr>
              <a:t>*They’re not 100% sold.  Through the sales process we did not get them emotionally locked in 100%</a:t>
            </a:r>
          </a:p>
          <a:p>
            <a:pPr algn="l"/>
            <a:r>
              <a:rPr lang="en-US" sz="1400" b="0" i="0" dirty="0">
                <a:solidFill>
                  <a:srgbClr val="000000"/>
                </a:solidFill>
                <a:effectLst/>
                <a:latin typeface="Calibri" panose="020F0502020204030204" pitchFamily="34" charset="0"/>
              </a:rPr>
              <a:t>*Fear of change (back to above point).  There are some that stall that are sold but terrified of change (Khalil)</a:t>
            </a:r>
          </a:p>
          <a:p>
            <a:pPr algn="l"/>
            <a:r>
              <a:rPr lang="en-US" sz="1400" b="0" i="0" dirty="0">
                <a:solidFill>
                  <a:srgbClr val="000000"/>
                </a:solidFill>
                <a:effectLst/>
                <a:latin typeface="Calibri" panose="020F0502020204030204" pitchFamily="34" charset="0"/>
              </a:rPr>
              <a:t>*Stall due to needed office personnel change – need new NP, new Office </a:t>
            </a:r>
            <a:r>
              <a:rPr lang="en-US" sz="1400" b="0" i="0" dirty="0" err="1">
                <a:solidFill>
                  <a:srgbClr val="000000"/>
                </a:solidFill>
                <a:effectLst/>
                <a:latin typeface="Calibri" panose="020F0502020204030204" pitchFamily="34" charset="0"/>
              </a:rPr>
              <a:t>mgr</a:t>
            </a:r>
            <a:r>
              <a:rPr lang="en-US" sz="1400" b="0" i="0" dirty="0">
                <a:solidFill>
                  <a:srgbClr val="000000"/>
                </a:solidFill>
                <a:effectLst/>
                <a:latin typeface="Calibri" panose="020F0502020204030204" pitchFamily="34" charset="0"/>
              </a:rPr>
              <a:t>, etc.</a:t>
            </a:r>
          </a:p>
          <a:p>
            <a:pPr algn="l"/>
            <a:r>
              <a:rPr lang="en-US" sz="1400" b="0" i="0" dirty="0">
                <a:solidFill>
                  <a:srgbClr val="000000"/>
                </a:solidFill>
                <a:effectLst/>
                <a:latin typeface="Calibri" panose="020F0502020204030204" pitchFamily="34" charset="0"/>
              </a:rPr>
              <a:t>*Pain points aren’t bad enough to force change</a:t>
            </a:r>
          </a:p>
          <a:p>
            <a:pPr algn="l"/>
            <a:r>
              <a:rPr lang="en-US" sz="1400" b="0" i="0" dirty="0">
                <a:solidFill>
                  <a:srgbClr val="000000"/>
                </a:solidFill>
                <a:effectLst/>
                <a:latin typeface="Calibri" panose="020F0502020204030204" pitchFamily="34" charset="0"/>
              </a:rPr>
              <a:t>*Spouse or trusted colleague is not 100% bought in</a:t>
            </a:r>
          </a:p>
        </p:txBody>
      </p:sp>
      <p:sp>
        <p:nvSpPr>
          <p:cNvPr id="12" name="TextBox 11">
            <a:extLst>
              <a:ext uri="{FF2B5EF4-FFF2-40B4-BE49-F238E27FC236}">
                <a16:creationId xmlns:a16="http://schemas.microsoft.com/office/drawing/2014/main" id="{1D2F87F2-19C9-8BD8-C1E3-5F0AAE567028}"/>
              </a:ext>
            </a:extLst>
          </p:cNvPr>
          <p:cNvSpPr txBox="1"/>
          <p:nvPr/>
        </p:nvSpPr>
        <p:spPr>
          <a:xfrm>
            <a:off x="6244123" y="4022780"/>
            <a:ext cx="6172200" cy="2246769"/>
          </a:xfrm>
          <a:prstGeom prst="rect">
            <a:avLst/>
          </a:prstGeom>
          <a:noFill/>
        </p:spPr>
        <p:txBody>
          <a:bodyPr wrap="square">
            <a:spAutoFit/>
          </a:bodyPr>
          <a:lstStyle/>
          <a:p>
            <a:pPr rtl="0" fontAlgn="base"/>
            <a:r>
              <a:rPr lang="en-US" sz="1400" dirty="0">
                <a:effectLst/>
                <a:latin typeface="Calibri" panose="020F0502020204030204" pitchFamily="34" charset="0"/>
              </a:rPr>
              <a:t>Why deals STALL or slip (disregarding the incidences where circumstances were agreeably completely out of our control)</a:t>
            </a:r>
          </a:p>
          <a:p>
            <a:pPr rtl="0" fontAlgn="base"/>
            <a:r>
              <a:rPr lang="en-US" sz="1400" dirty="0">
                <a:effectLst/>
                <a:latin typeface="Calibri" panose="020F0502020204030204" pitchFamily="34" charset="0"/>
              </a:rPr>
              <a:t> </a:t>
            </a:r>
          </a:p>
          <a:p>
            <a:pPr rtl="0" fontAlgn="base">
              <a:buFont typeface="+mj-lt"/>
              <a:buAutoNum type="arabicPeriod"/>
            </a:pPr>
            <a:r>
              <a:rPr lang="en-US" sz="1400" dirty="0">
                <a:effectLst/>
                <a:latin typeface="Calibri" panose="020F0502020204030204" pitchFamily="34" charset="0"/>
              </a:rPr>
              <a:t>Failure to set the timeline and expectation of each step in the process from the very first meeting with the doctor. (</a:t>
            </a:r>
            <a:r>
              <a:rPr lang="en-US" sz="1400" dirty="0" err="1">
                <a:effectLst/>
                <a:latin typeface="Calibri" panose="020F0502020204030204" pitchFamily="34" charset="0"/>
              </a:rPr>
              <a:t>Hipaa</a:t>
            </a:r>
            <a:r>
              <a:rPr lang="en-US" sz="1400" dirty="0">
                <a:effectLst/>
                <a:latin typeface="Calibri" panose="020F0502020204030204" pitchFamily="34" charset="0"/>
              </a:rPr>
              <a:t>-Data-Survey-Financials-Background Check-Contract publishing-legal review-final signing)</a:t>
            </a:r>
          </a:p>
          <a:p>
            <a:pPr rtl="0" fontAlgn="base">
              <a:buFont typeface="+mj-lt"/>
              <a:buAutoNum type="arabicPeriod"/>
            </a:pPr>
            <a:r>
              <a:rPr lang="en-US" sz="1400" dirty="0">
                <a:effectLst/>
                <a:latin typeface="Calibri" panose="020F0502020204030204" pitchFamily="34" charset="0"/>
              </a:rPr>
              <a:t>Contact with the physician that doesn’t eventually graduate to DAILY communication as contract signing gets closer.</a:t>
            </a:r>
          </a:p>
          <a:p>
            <a:pPr rtl="0" fontAlgn="base">
              <a:buFont typeface="+mj-lt"/>
              <a:buAutoNum type="arabicPeriod"/>
            </a:pPr>
            <a:r>
              <a:rPr lang="en-US" sz="1400" dirty="0">
                <a:effectLst/>
                <a:latin typeface="Calibri" panose="020F0502020204030204" pitchFamily="34" charset="0"/>
              </a:rPr>
              <a:t>Inability to keep the excitement level of the “new practice” in the forefront of their mind, and a top priority to achieve it as something they think about daily.</a:t>
            </a:r>
          </a:p>
        </p:txBody>
      </p:sp>
    </p:spTree>
    <p:extLst>
      <p:ext uri="{BB962C8B-B14F-4D97-AF65-F5344CB8AC3E}">
        <p14:creationId xmlns:p14="http://schemas.microsoft.com/office/powerpoint/2010/main" val="364165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2404154" y="420417"/>
            <a:ext cx="6914507"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Break</a:t>
            </a:r>
          </a:p>
        </p:txBody>
      </p:sp>
      <p:sp>
        <p:nvSpPr>
          <p:cNvPr id="2" name="TextBox 1">
            <a:extLst>
              <a:ext uri="{FF2B5EF4-FFF2-40B4-BE49-F238E27FC236}">
                <a16:creationId xmlns:a16="http://schemas.microsoft.com/office/drawing/2014/main" id="{9E094EFC-522B-C4E3-7DEA-5532F477D363}"/>
              </a:ext>
            </a:extLst>
          </p:cNvPr>
          <p:cNvSpPr txBox="1"/>
          <p:nvPr/>
        </p:nvSpPr>
        <p:spPr>
          <a:xfrm>
            <a:off x="3863083" y="3133857"/>
            <a:ext cx="7582328" cy="1107996"/>
          </a:xfrm>
          <a:prstGeom prst="rect">
            <a:avLst/>
          </a:prstGeom>
          <a:noFill/>
        </p:spPr>
        <p:txBody>
          <a:bodyPr wrap="square" rtlCol="0">
            <a:spAutoFit/>
          </a:bodyPr>
          <a:lstStyle/>
          <a:p>
            <a:r>
              <a:rPr lang="en-US" sz="6600" dirty="0">
                <a:solidFill>
                  <a:srgbClr val="FF0000"/>
                </a:solidFill>
              </a:rPr>
              <a:t>15 Min Break</a:t>
            </a:r>
          </a:p>
        </p:txBody>
      </p:sp>
    </p:spTree>
    <p:extLst>
      <p:ext uri="{BB962C8B-B14F-4D97-AF65-F5344CB8AC3E}">
        <p14:creationId xmlns:p14="http://schemas.microsoft.com/office/powerpoint/2010/main" val="4153196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6" name="TextBox 5">
            <a:extLst>
              <a:ext uri="{FF2B5EF4-FFF2-40B4-BE49-F238E27FC236}">
                <a16:creationId xmlns:a16="http://schemas.microsoft.com/office/drawing/2014/main" id="{DD57F1CE-E255-D7B5-BD0E-3055890567A3}"/>
              </a:ext>
            </a:extLst>
          </p:cNvPr>
          <p:cNvSpPr txBox="1"/>
          <p:nvPr/>
        </p:nvSpPr>
        <p:spPr>
          <a:xfrm>
            <a:off x="472611" y="2241043"/>
            <a:ext cx="11024171" cy="1938992"/>
          </a:xfrm>
          <a:prstGeom prst="rect">
            <a:avLst/>
          </a:prstGeom>
          <a:noFill/>
        </p:spPr>
        <p:txBody>
          <a:bodyPr wrap="square">
            <a:spAutoFit/>
          </a:bodyPr>
          <a:lstStyle/>
          <a:p>
            <a:r>
              <a:rPr lang="en-US" sz="2400" dirty="0"/>
              <a:t>Welcome to this training session on MEDDIC, a powerful sales qualification framework. MEDDIC provides a systematic approach to understanding customer needs, aligning sales efforts, and increasing the chances of closing deals successfully. In this training, we'll explore each element of MEDDIC and discuss how to effectively apply it in your sales process.</a:t>
            </a:r>
          </a:p>
        </p:txBody>
      </p:sp>
      <p:sp>
        <p:nvSpPr>
          <p:cNvPr id="10" name="TextBox 9">
            <a:extLst>
              <a:ext uri="{FF2B5EF4-FFF2-40B4-BE49-F238E27FC236}">
                <a16:creationId xmlns:a16="http://schemas.microsoft.com/office/drawing/2014/main" id="{2FBF46FD-C5D6-216E-0796-BF7103939EEF}"/>
              </a:ext>
            </a:extLst>
          </p:cNvPr>
          <p:cNvSpPr txBox="1"/>
          <p:nvPr/>
        </p:nvSpPr>
        <p:spPr>
          <a:xfrm>
            <a:off x="1897626" y="5083643"/>
            <a:ext cx="8797248" cy="646331"/>
          </a:xfrm>
          <a:prstGeom prst="rect">
            <a:avLst/>
          </a:prstGeom>
          <a:noFill/>
        </p:spPr>
        <p:txBody>
          <a:bodyPr wrap="square">
            <a:spAutoFit/>
          </a:bodyPr>
          <a:lstStyle/>
          <a:p>
            <a:r>
              <a:rPr lang="en-US" b="1" dirty="0"/>
              <a:t>MEDDIC-F (Metrics, Economic buyer, Decision criteria, Decision process, Identify pain, Champion, and Fox)</a:t>
            </a:r>
          </a:p>
        </p:txBody>
      </p:sp>
    </p:spTree>
    <p:extLst>
      <p:ext uri="{BB962C8B-B14F-4D97-AF65-F5344CB8AC3E}">
        <p14:creationId xmlns:p14="http://schemas.microsoft.com/office/powerpoint/2010/main" val="2435432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6" name="TextBox 5">
            <a:extLst>
              <a:ext uri="{FF2B5EF4-FFF2-40B4-BE49-F238E27FC236}">
                <a16:creationId xmlns:a16="http://schemas.microsoft.com/office/drawing/2014/main" id="{DD57F1CE-E255-D7B5-BD0E-3055890567A3}"/>
              </a:ext>
            </a:extLst>
          </p:cNvPr>
          <p:cNvSpPr txBox="1"/>
          <p:nvPr/>
        </p:nvSpPr>
        <p:spPr>
          <a:xfrm>
            <a:off x="613357" y="1970458"/>
            <a:ext cx="11366310" cy="3416320"/>
          </a:xfrm>
          <a:prstGeom prst="rect">
            <a:avLst/>
          </a:prstGeom>
          <a:noFill/>
        </p:spPr>
        <p:txBody>
          <a:bodyPr wrap="square">
            <a:spAutoFit/>
          </a:bodyPr>
          <a:lstStyle/>
          <a:p>
            <a:r>
              <a:rPr lang="en-US" b="1" u="sng" dirty="0"/>
              <a:t>Metrics:</a:t>
            </a:r>
          </a:p>
          <a:p>
            <a:r>
              <a:rPr lang="en-US" dirty="0"/>
              <a:t>The first element of MEDDIC is Metrics. This refers to the quantifiable measures of success or goals that the customer wants to achieve. In this step, it's crucial to identify the key performance indicators (KPIs) or metrics that are important to your customer. Understand their business objectives and how your solution can help them achieve those objectives. By aligning your offering with their metrics, you can demonstrate the value you bring to the table.</a:t>
            </a:r>
          </a:p>
          <a:p>
            <a:endParaRPr lang="en-US" dirty="0"/>
          </a:p>
          <a:p>
            <a:endParaRPr lang="en-US" dirty="0"/>
          </a:p>
          <a:p>
            <a:r>
              <a:rPr lang="en-US" b="1" dirty="0"/>
              <a:t>Key points to cover:</a:t>
            </a:r>
          </a:p>
          <a:p>
            <a:endParaRPr lang="en-US" dirty="0"/>
          </a:p>
          <a:p>
            <a:r>
              <a:rPr lang="en-US" dirty="0"/>
              <a:t>How to identify the customer's metrics and KPIs.</a:t>
            </a:r>
          </a:p>
          <a:p>
            <a:r>
              <a:rPr lang="en-US" dirty="0"/>
              <a:t>How to relate your solution to the customer's metrics.</a:t>
            </a:r>
          </a:p>
          <a:p>
            <a:r>
              <a:rPr lang="en-US" dirty="0"/>
              <a:t>The importance of quantifying the value of your offering.</a:t>
            </a:r>
          </a:p>
        </p:txBody>
      </p:sp>
    </p:spTree>
    <p:extLst>
      <p:ext uri="{BB962C8B-B14F-4D97-AF65-F5344CB8AC3E}">
        <p14:creationId xmlns:p14="http://schemas.microsoft.com/office/powerpoint/2010/main" val="1340721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4" name="TextBox 3">
            <a:extLst>
              <a:ext uri="{FF2B5EF4-FFF2-40B4-BE49-F238E27FC236}">
                <a16:creationId xmlns:a16="http://schemas.microsoft.com/office/drawing/2014/main" id="{E6106767-7913-6468-F951-6DC83D171292}"/>
              </a:ext>
            </a:extLst>
          </p:cNvPr>
          <p:cNvSpPr txBox="1"/>
          <p:nvPr/>
        </p:nvSpPr>
        <p:spPr>
          <a:xfrm>
            <a:off x="431515" y="1862512"/>
            <a:ext cx="11373492" cy="3139321"/>
          </a:xfrm>
          <a:prstGeom prst="rect">
            <a:avLst/>
          </a:prstGeom>
          <a:noFill/>
        </p:spPr>
        <p:txBody>
          <a:bodyPr wrap="square">
            <a:spAutoFit/>
          </a:bodyPr>
          <a:lstStyle/>
          <a:p>
            <a:r>
              <a:rPr lang="en-US" b="1" u="sng" dirty="0"/>
              <a:t>Economic Buyer:</a:t>
            </a:r>
          </a:p>
          <a:p>
            <a:r>
              <a:rPr lang="en-US" dirty="0"/>
              <a:t>The second element of MEDDIC is the Economic Buyer. This refers to the person or group of people who have the authority to make the purchasing decision and control the budget. It's crucial to identify and engage with the economic buyer early in the sales process. Understanding their needs, priorities, and decision-making criteria is essential for successful selling.</a:t>
            </a:r>
          </a:p>
          <a:p>
            <a:endParaRPr lang="en-US" dirty="0"/>
          </a:p>
          <a:p>
            <a:r>
              <a:rPr lang="en-US" b="1" dirty="0"/>
              <a:t>Key points to cover:</a:t>
            </a:r>
          </a:p>
          <a:p>
            <a:endParaRPr lang="en-US" dirty="0"/>
          </a:p>
          <a:p>
            <a:r>
              <a:rPr lang="en-US" dirty="0"/>
              <a:t>How to identify the economic buyer.</a:t>
            </a:r>
          </a:p>
          <a:p>
            <a:r>
              <a:rPr lang="en-US" dirty="0"/>
              <a:t>Strategies for engaging and building relationships with economic buyers.</a:t>
            </a:r>
          </a:p>
          <a:p>
            <a:r>
              <a:rPr lang="en-US" dirty="0"/>
              <a:t>Understanding the economic buyer's priorities and decision-making process.</a:t>
            </a:r>
          </a:p>
        </p:txBody>
      </p:sp>
    </p:spTree>
    <p:extLst>
      <p:ext uri="{BB962C8B-B14F-4D97-AF65-F5344CB8AC3E}">
        <p14:creationId xmlns:p14="http://schemas.microsoft.com/office/powerpoint/2010/main" val="3844927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5" name="TextBox 4">
            <a:extLst>
              <a:ext uri="{FF2B5EF4-FFF2-40B4-BE49-F238E27FC236}">
                <a16:creationId xmlns:a16="http://schemas.microsoft.com/office/drawing/2014/main" id="{8CAE2CFD-F207-9368-4BC9-88484C4BC439}"/>
              </a:ext>
            </a:extLst>
          </p:cNvPr>
          <p:cNvSpPr txBox="1"/>
          <p:nvPr/>
        </p:nvSpPr>
        <p:spPr>
          <a:xfrm>
            <a:off x="696072" y="2107666"/>
            <a:ext cx="10954821" cy="3139321"/>
          </a:xfrm>
          <a:prstGeom prst="rect">
            <a:avLst/>
          </a:prstGeom>
          <a:noFill/>
        </p:spPr>
        <p:txBody>
          <a:bodyPr wrap="square">
            <a:spAutoFit/>
          </a:bodyPr>
          <a:lstStyle/>
          <a:p>
            <a:r>
              <a:rPr lang="en-US" b="1" u="sng" dirty="0"/>
              <a:t>Decision Criteria:</a:t>
            </a:r>
          </a:p>
          <a:p>
            <a:r>
              <a:rPr lang="en-US" dirty="0"/>
              <a:t>The third element of MEDDIC is Decision Criteria. This involves understanding the specific factors or criteria the customer will consider when evaluating your solution. By understanding their decision-making process, you can tailor your approach and address their concerns effectively. It's important to proactively gather information about their decision criteria and align your offering accordingly.</a:t>
            </a:r>
          </a:p>
          <a:p>
            <a:endParaRPr lang="en-US" dirty="0"/>
          </a:p>
          <a:p>
            <a:r>
              <a:rPr lang="en-US" b="1" dirty="0"/>
              <a:t>Key points to cover:</a:t>
            </a:r>
          </a:p>
          <a:p>
            <a:endParaRPr lang="en-US" dirty="0"/>
          </a:p>
          <a:p>
            <a:r>
              <a:rPr lang="en-US" dirty="0"/>
              <a:t>How to identify and prioritize the customer's decision criteria.</a:t>
            </a:r>
          </a:p>
          <a:p>
            <a:r>
              <a:rPr lang="en-US" dirty="0"/>
              <a:t>Techniques for gathering information about decision criteria.</a:t>
            </a:r>
          </a:p>
          <a:p>
            <a:r>
              <a:rPr lang="en-US" dirty="0"/>
              <a:t>Tailoring your solution to meet the customer's decision criteria.</a:t>
            </a:r>
          </a:p>
        </p:txBody>
      </p:sp>
    </p:spTree>
    <p:extLst>
      <p:ext uri="{BB962C8B-B14F-4D97-AF65-F5344CB8AC3E}">
        <p14:creationId xmlns:p14="http://schemas.microsoft.com/office/powerpoint/2010/main" val="2108611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4" name="TextBox 3">
            <a:extLst>
              <a:ext uri="{FF2B5EF4-FFF2-40B4-BE49-F238E27FC236}">
                <a16:creationId xmlns:a16="http://schemas.microsoft.com/office/drawing/2014/main" id="{6543A981-DECF-7E6C-82E5-59DF9298F56C}"/>
              </a:ext>
            </a:extLst>
          </p:cNvPr>
          <p:cNvSpPr txBox="1"/>
          <p:nvPr/>
        </p:nvSpPr>
        <p:spPr>
          <a:xfrm>
            <a:off x="654548" y="2014465"/>
            <a:ext cx="10882901" cy="3416320"/>
          </a:xfrm>
          <a:prstGeom prst="rect">
            <a:avLst/>
          </a:prstGeom>
          <a:noFill/>
        </p:spPr>
        <p:txBody>
          <a:bodyPr wrap="square">
            <a:spAutoFit/>
          </a:bodyPr>
          <a:lstStyle/>
          <a:p>
            <a:r>
              <a:rPr lang="en-US" b="1" u="sng" dirty="0"/>
              <a:t>Decision Process:</a:t>
            </a:r>
          </a:p>
          <a:p>
            <a:endParaRPr lang="en-US" b="1" u="sng" dirty="0"/>
          </a:p>
          <a:p>
            <a:r>
              <a:rPr lang="en-US" dirty="0"/>
              <a:t>The fourth element of MEDDIC is the Decision Process. This refers to the steps and stakeholders involved in the customer's decision-making process. Understanding the decision process allows you to navigate through the organization, build relationships with key stakeholders, and influence the decision in your favor. By identifying the decision-makers, influencers, and gatekeepers, you can effectively manage the sales cycle.</a:t>
            </a:r>
          </a:p>
          <a:p>
            <a:endParaRPr lang="en-US" dirty="0"/>
          </a:p>
          <a:p>
            <a:r>
              <a:rPr lang="en-US" b="1" dirty="0"/>
              <a:t>Key points to cover:</a:t>
            </a:r>
          </a:p>
          <a:p>
            <a:endParaRPr lang="en-US" dirty="0"/>
          </a:p>
          <a:p>
            <a:r>
              <a:rPr lang="en-US" dirty="0"/>
              <a:t>Mapping the decision-making process and identifying stakeholders.</a:t>
            </a:r>
          </a:p>
          <a:p>
            <a:r>
              <a:rPr lang="en-US" dirty="0"/>
              <a:t>Building relationships with key stakeholders.</a:t>
            </a:r>
          </a:p>
          <a:p>
            <a:r>
              <a:rPr lang="en-US" dirty="0"/>
              <a:t>Strategies for navigating complex decision processes.</a:t>
            </a:r>
          </a:p>
        </p:txBody>
      </p:sp>
    </p:spTree>
    <p:extLst>
      <p:ext uri="{BB962C8B-B14F-4D97-AF65-F5344CB8AC3E}">
        <p14:creationId xmlns:p14="http://schemas.microsoft.com/office/powerpoint/2010/main" val="4039563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5" name="TextBox 4">
            <a:extLst>
              <a:ext uri="{FF2B5EF4-FFF2-40B4-BE49-F238E27FC236}">
                <a16:creationId xmlns:a16="http://schemas.microsoft.com/office/drawing/2014/main" id="{284F5AC2-E8EE-FA5F-AF88-DA0BD0B92096}"/>
              </a:ext>
            </a:extLst>
          </p:cNvPr>
          <p:cNvSpPr txBox="1"/>
          <p:nvPr/>
        </p:nvSpPr>
        <p:spPr>
          <a:xfrm>
            <a:off x="1004298" y="2052383"/>
            <a:ext cx="10646595" cy="3416320"/>
          </a:xfrm>
          <a:prstGeom prst="rect">
            <a:avLst/>
          </a:prstGeom>
          <a:noFill/>
        </p:spPr>
        <p:txBody>
          <a:bodyPr wrap="square">
            <a:spAutoFit/>
          </a:bodyPr>
          <a:lstStyle/>
          <a:p>
            <a:r>
              <a:rPr lang="en-US" b="1" u="sng" dirty="0"/>
              <a:t>Identify Pain:</a:t>
            </a:r>
          </a:p>
          <a:p>
            <a:endParaRPr lang="en-US" b="1" u="sng" dirty="0"/>
          </a:p>
          <a:p>
            <a:r>
              <a:rPr lang="en-US" dirty="0"/>
              <a:t>The fifth element of MEDDIC is to Identify Pain. This involves understanding the customer's pain points, challenges, or problems that your solution can address. By demonstrating a clear understanding of their pain points, you position yourself as a trusted advisor who can provide valuable solutions. Probing questions and active listening are crucial in uncovering and understanding the customer's pain.</a:t>
            </a:r>
          </a:p>
          <a:p>
            <a:endParaRPr lang="en-US" dirty="0"/>
          </a:p>
          <a:p>
            <a:r>
              <a:rPr lang="en-US" b="1" dirty="0"/>
              <a:t>Key points to cover:</a:t>
            </a:r>
          </a:p>
          <a:p>
            <a:endParaRPr lang="en-US" dirty="0"/>
          </a:p>
          <a:p>
            <a:r>
              <a:rPr lang="en-US" dirty="0"/>
              <a:t>Techniques for uncovering customer pain points.</a:t>
            </a:r>
          </a:p>
          <a:p>
            <a:r>
              <a:rPr lang="en-US" dirty="0"/>
              <a:t>Active listening and effective questioning strategies.</a:t>
            </a:r>
          </a:p>
          <a:p>
            <a:r>
              <a:rPr lang="en-US" dirty="0"/>
              <a:t>Linking your solution to the customer's pain points.</a:t>
            </a:r>
          </a:p>
        </p:txBody>
      </p:sp>
    </p:spTree>
    <p:extLst>
      <p:ext uri="{BB962C8B-B14F-4D97-AF65-F5344CB8AC3E}">
        <p14:creationId xmlns:p14="http://schemas.microsoft.com/office/powerpoint/2010/main" val="739751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5" name="TextBox 4">
            <a:extLst>
              <a:ext uri="{FF2B5EF4-FFF2-40B4-BE49-F238E27FC236}">
                <a16:creationId xmlns:a16="http://schemas.microsoft.com/office/drawing/2014/main" id="{284F5AC2-E8EE-FA5F-AF88-DA0BD0B92096}"/>
              </a:ext>
            </a:extLst>
          </p:cNvPr>
          <p:cNvSpPr txBox="1"/>
          <p:nvPr/>
        </p:nvSpPr>
        <p:spPr>
          <a:xfrm>
            <a:off x="2076640" y="2925219"/>
            <a:ext cx="10646595" cy="1200329"/>
          </a:xfrm>
          <a:prstGeom prst="rect">
            <a:avLst/>
          </a:prstGeom>
          <a:noFill/>
        </p:spPr>
        <p:txBody>
          <a:bodyPr wrap="square">
            <a:spAutoFit/>
          </a:bodyPr>
          <a:lstStyle/>
          <a:p>
            <a:r>
              <a:rPr lang="en-US" sz="7200" b="1" u="sng" dirty="0"/>
              <a:t>Role Play: Pain Point</a:t>
            </a:r>
            <a:endParaRPr lang="en-US" sz="7200" dirty="0"/>
          </a:p>
        </p:txBody>
      </p:sp>
    </p:spTree>
    <p:extLst>
      <p:ext uri="{BB962C8B-B14F-4D97-AF65-F5344CB8AC3E}">
        <p14:creationId xmlns:p14="http://schemas.microsoft.com/office/powerpoint/2010/main" val="605235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4" name="TextBox 3">
            <a:extLst>
              <a:ext uri="{FF2B5EF4-FFF2-40B4-BE49-F238E27FC236}">
                <a16:creationId xmlns:a16="http://schemas.microsoft.com/office/drawing/2014/main" id="{BC425F74-56CF-D80D-4B30-359326E81E34}"/>
              </a:ext>
            </a:extLst>
          </p:cNvPr>
          <p:cNvSpPr txBox="1"/>
          <p:nvPr/>
        </p:nvSpPr>
        <p:spPr>
          <a:xfrm>
            <a:off x="164387" y="1990738"/>
            <a:ext cx="11887200" cy="3139321"/>
          </a:xfrm>
          <a:prstGeom prst="rect">
            <a:avLst/>
          </a:prstGeom>
          <a:noFill/>
        </p:spPr>
        <p:txBody>
          <a:bodyPr wrap="square">
            <a:spAutoFit/>
          </a:bodyPr>
          <a:lstStyle/>
          <a:p>
            <a:r>
              <a:rPr lang="en-US" b="1" u="sng" dirty="0"/>
              <a:t>Champion:</a:t>
            </a:r>
          </a:p>
          <a:p>
            <a:r>
              <a:rPr lang="en-US" dirty="0"/>
              <a:t>The final element of MEDDIC is the Champion. This refers to a key individual within the customer organization who supports and advocates for your solution. Having a champion can significantly increase your chances of success. It's important to identify and nurture champions throughout the sales process, as they can help you navigate the organization, address concerns, and influence the decision.</a:t>
            </a:r>
          </a:p>
          <a:p>
            <a:endParaRPr lang="en-US" dirty="0"/>
          </a:p>
          <a:p>
            <a:r>
              <a:rPr lang="en-US" b="1" dirty="0"/>
              <a:t>Key points to cover:</a:t>
            </a:r>
          </a:p>
          <a:p>
            <a:endParaRPr lang="en-US" dirty="0"/>
          </a:p>
          <a:p>
            <a:r>
              <a:rPr lang="en-US" dirty="0"/>
              <a:t>How to identify and build relationships with champions.</a:t>
            </a:r>
          </a:p>
          <a:p>
            <a:r>
              <a:rPr lang="en-US" dirty="0"/>
              <a:t>Leveraging champions to influence the decision.</a:t>
            </a:r>
          </a:p>
          <a:p>
            <a:r>
              <a:rPr lang="en-US" dirty="0"/>
              <a:t>The role of champions in driving successful sales.</a:t>
            </a:r>
          </a:p>
        </p:txBody>
      </p:sp>
    </p:spTree>
    <p:extLst>
      <p:ext uri="{BB962C8B-B14F-4D97-AF65-F5344CB8AC3E}">
        <p14:creationId xmlns:p14="http://schemas.microsoft.com/office/powerpoint/2010/main" val="4007045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3795251"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a:t>
            </a:r>
          </a:p>
        </p:txBody>
      </p:sp>
      <p:sp>
        <p:nvSpPr>
          <p:cNvPr id="4" name="TextBox 3">
            <a:extLst>
              <a:ext uri="{FF2B5EF4-FFF2-40B4-BE49-F238E27FC236}">
                <a16:creationId xmlns:a16="http://schemas.microsoft.com/office/drawing/2014/main" id="{BC425F74-56CF-D80D-4B30-359326E81E34}"/>
              </a:ext>
            </a:extLst>
          </p:cNvPr>
          <p:cNvSpPr txBox="1"/>
          <p:nvPr/>
        </p:nvSpPr>
        <p:spPr>
          <a:xfrm>
            <a:off x="164387" y="1990738"/>
            <a:ext cx="11887200" cy="3139321"/>
          </a:xfrm>
          <a:prstGeom prst="rect">
            <a:avLst/>
          </a:prstGeom>
          <a:noFill/>
        </p:spPr>
        <p:txBody>
          <a:bodyPr wrap="square">
            <a:spAutoFit/>
          </a:bodyPr>
          <a:lstStyle/>
          <a:p>
            <a:r>
              <a:rPr lang="en-US" b="1" u="sng" dirty="0"/>
              <a:t>FOX:</a:t>
            </a:r>
          </a:p>
          <a:p>
            <a:r>
              <a:rPr lang="en-US" dirty="0"/>
              <a:t>The additional element of MEDDIC is the FOX. This refers to a key individual within the practice or their close friends and family who will try to tank your deal. There is always someone within the practice can significantly decrease your chances of success. It's important to identify the FOX throughout the sales process, as will want to address concerns, and influence the decision.</a:t>
            </a:r>
          </a:p>
          <a:p>
            <a:endParaRPr lang="en-US" dirty="0"/>
          </a:p>
          <a:p>
            <a:r>
              <a:rPr lang="en-US" b="1" dirty="0"/>
              <a:t>Key points to cover:</a:t>
            </a:r>
          </a:p>
          <a:p>
            <a:endParaRPr lang="en-US" dirty="0"/>
          </a:p>
          <a:p>
            <a:r>
              <a:rPr lang="en-US" dirty="0"/>
              <a:t>How to identify and build relationships with the FOX</a:t>
            </a:r>
          </a:p>
          <a:p>
            <a:r>
              <a:rPr lang="en-US" dirty="0"/>
              <a:t>Leveraging champions to influence the FOX.</a:t>
            </a:r>
          </a:p>
          <a:p>
            <a:r>
              <a:rPr lang="en-US" dirty="0"/>
              <a:t>The role of FOX in killing your deal</a:t>
            </a:r>
          </a:p>
        </p:txBody>
      </p:sp>
      <p:pic>
        <p:nvPicPr>
          <p:cNvPr id="2" name="Picture 1">
            <a:extLst>
              <a:ext uri="{FF2B5EF4-FFF2-40B4-BE49-F238E27FC236}">
                <a16:creationId xmlns:a16="http://schemas.microsoft.com/office/drawing/2014/main" id="{7642753E-321D-5FBA-C95A-65DCB7666CC1}"/>
              </a:ext>
            </a:extLst>
          </p:cNvPr>
          <p:cNvPicPr>
            <a:picLocks noChangeAspect="1"/>
          </p:cNvPicPr>
          <p:nvPr/>
        </p:nvPicPr>
        <p:blipFill>
          <a:blip r:embed="rId3"/>
          <a:stretch>
            <a:fillRect/>
          </a:stretch>
        </p:blipFill>
        <p:spPr>
          <a:xfrm>
            <a:off x="6431837" y="3265897"/>
            <a:ext cx="5143500" cy="3429000"/>
          </a:xfrm>
          <a:prstGeom prst="rect">
            <a:avLst/>
          </a:prstGeom>
        </p:spPr>
      </p:pic>
    </p:spTree>
    <p:extLst>
      <p:ext uri="{BB962C8B-B14F-4D97-AF65-F5344CB8AC3E}">
        <p14:creationId xmlns:p14="http://schemas.microsoft.com/office/powerpoint/2010/main" val="760276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6914507"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 </a:t>
            </a:r>
          </a:p>
        </p:txBody>
      </p:sp>
      <p:sp>
        <p:nvSpPr>
          <p:cNvPr id="4" name="TextBox 3">
            <a:extLst>
              <a:ext uri="{FF2B5EF4-FFF2-40B4-BE49-F238E27FC236}">
                <a16:creationId xmlns:a16="http://schemas.microsoft.com/office/drawing/2014/main" id="{BC425F74-56CF-D80D-4B30-359326E81E34}"/>
              </a:ext>
            </a:extLst>
          </p:cNvPr>
          <p:cNvSpPr txBox="1"/>
          <p:nvPr/>
        </p:nvSpPr>
        <p:spPr>
          <a:xfrm>
            <a:off x="164387" y="1990738"/>
            <a:ext cx="4189784" cy="2677656"/>
          </a:xfrm>
          <a:prstGeom prst="rect">
            <a:avLst/>
          </a:prstGeom>
          <a:noFill/>
        </p:spPr>
        <p:txBody>
          <a:bodyPr wrap="square">
            <a:spAutoFit/>
          </a:bodyPr>
          <a:lstStyle/>
          <a:p>
            <a:r>
              <a:rPr lang="en-US" sz="2400"/>
              <a:t>In terms of the data in this screenshot it is taken from the Ebsta Benchmark Report that has analysed $37B worth of annualised pipeline and 3.2M opportunities, so its very robust research. </a:t>
            </a:r>
            <a:endParaRPr lang="en-US" sz="2400" dirty="0"/>
          </a:p>
        </p:txBody>
      </p:sp>
      <p:pic>
        <p:nvPicPr>
          <p:cNvPr id="2" name="Picture 1">
            <a:extLst>
              <a:ext uri="{FF2B5EF4-FFF2-40B4-BE49-F238E27FC236}">
                <a16:creationId xmlns:a16="http://schemas.microsoft.com/office/drawing/2014/main" id="{46A99789-84A7-6227-EF4D-01B44249E27C}"/>
              </a:ext>
            </a:extLst>
          </p:cNvPr>
          <p:cNvPicPr>
            <a:picLocks noChangeAspect="1"/>
          </p:cNvPicPr>
          <p:nvPr/>
        </p:nvPicPr>
        <p:blipFill>
          <a:blip r:embed="rId3"/>
          <a:stretch>
            <a:fillRect/>
          </a:stretch>
        </p:blipFill>
        <p:spPr>
          <a:xfrm>
            <a:off x="4494584" y="1787703"/>
            <a:ext cx="7557003" cy="5070297"/>
          </a:xfrm>
          <a:prstGeom prst="rect">
            <a:avLst/>
          </a:prstGeom>
        </p:spPr>
      </p:pic>
    </p:spTree>
    <p:extLst>
      <p:ext uri="{BB962C8B-B14F-4D97-AF65-F5344CB8AC3E}">
        <p14:creationId xmlns:p14="http://schemas.microsoft.com/office/powerpoint/2010/main" val="3914805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6914507"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MEDDIC-F – Discussion</a:t>
            </a:r>
          </a:p>
        </p:txBody>
      </p:sp>
      <p:sp>
        <p:nvSpPr>
          <p:cNvPr id="4" name="TextBox 3">
            <a:extLst>
              <a:ext uri="{FF2B5EF4-FFF2-40B4-BE49-F238E27FC236}">
                <a16:creationId xmlns:a16="http://schemas.microsoft.com/office/drawing/2014/main" id="{BC425F74-56CF-D80D-4B30-359326E81E34}"/>
              </a:ext>
            </a:extLst>
          </p:cNvPr>
          <p:cNvSpPr txBox="1"/>
          <p:nvPr/>
        </p:nvSpPr>
        <p:spPr>
          <a:xfrm>
            <a:off x="164387" y="1990738"/>
            <a:ext cx="11887200" cy="1862048"/>
          </a:xfrm>
          <a:prstGeom prst="rect">
            <a:avLst/>
          </a:prstGeom>
          <a:noFill/>
        </p:spPr>
        <p:txBody>
          <a:bodyPr wrap="square">
            <a:spAutoFit/>
          </a:bodyPr>
          <a:lstStyle/>
          <a:p>
            <a:r>
              <a:rPr lang="en-US" sz="11500" dirty="0"/>
              <a:t>Open Discussion</a:t>
            </a:r>
          </a:p>
        </p:txBody>
      </p:sp>
    </p:spTree>
    <p:extLst>
      <p:ext uri="{BB962C8B-B14F-4D97-AF65-F5344CB8AC3E}">
        <p14:creationId xmlns:p14="http://schemas.microsoft.com/office/powerpoint/2010/main" val="3886415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7" name="Google Shape;57;g1762af77d63_0_0"/>
          <p:cNvSpPr/>
          <p:nvPr/>
        </p:nvSpPr>
        <p:spPr>
          <a:xfrm>
            <a:off x="0" y="0"/>
            <a:ext cx="3883600" cy="6858000"/>
          </a:xfrm>
          <a:prstGeom prst="rect">
            <a:avLst/>
          </a:prstGeom>
          <a:solidFill>
            <a:srgbClr val="13ADD1"/>
          </a:solidFill>
          <a:ln>
            <a:solidFill>
              <a:srgbClr val="13ADD1"/>
            </a:solidFill>
          </a:ln>
        </p:spPr>
        <p:txBody>
          <a:bodyPr spcFirstLastPara="1" wrap="square" lIns="121900" tIns="60933" rIns="121900" bIns="60933" anchor="ctr" anchorCtr="0">
            <a:noAutofit/>
          </a:bodyPr>
          <a:lstStyle/>
          <a:p>
            <a:pPr algn="l">
              <a:lnSpc>
                <a:spcPct val="115000"/>
              </a:lnSpc>
              <a:spcBef>
                <a:spcPts val="0"/>
              </a:spcBef>
              <a:buSzPts val="770"/>
            </a:pPr>
            <a:endParaRPr lang="en-US" sz="2400" dirty="0">
              <a:solidFill>
                <a:schemeClr val="bg1"/>
              </a:solidFill>
              <a:latin typeface="Times New Roman" panose="02020603050405020304" pitchFamily="18" charset="0"/>
              <a:ea typeface="Montserrat"/>
              <a:cs typeface="Times New Roman" panose="02020603050405020304" pitchFamily="18" charset="0"/>
              <a:sym typeface="Montserrat"/>
            </a:endParaRPr>
          </a:p>
        </p:txBody>
      </p:sp>
      <p:sp>
        <p:nvSpPr>
          <p:cNvPr id="59" name="Google Shape;59;g1762af77d63_0_0"/>
          <p:cNvSpPr txBox="1">
            <a:spLocks noGrp="1"/>
          </p:cNvSpPr>
          <p:nvPr>
            <p:ph type="ctrTitle"/>
          </p:nvPr>
        </p:nvSpPr>
        <p:spPr>
          <a:xfrm>
            <a:off x="523981" y="2464600"/>
            <a:ext cx="4419200" cy="1928800"/>
          </a:xfrm>
          <a:prstGeom prst="rect">
            <a:avLst/>
          </a:prstGeom>
          <a:noFill/>
          <a:ln>
            <a:noFill/>
          </a:ln>
        </p:spPr>
        <p:txBody>
          <a:bodyPr spcFirstLastPara="1" vert="horz" wrap="square" lIns="121900" tIns="121900" rIns="121900" bIns="121900" rtlCol="0" anchor="t" anchorCtr="0">
            <a:noAutofit/>
          </a:bodyPr>
          <a:lstStyle/>
          <a:p>
            <a:pPr algn="l"/>
            <a:r>
              <a:rPr lang="en-US" sz="6600" dirty="0">
                <a:solidFill>
                  <a:schemeClr val="bg1"/>
                </a:solidFill>
                <a:latin typeface="Times New Roman" panose="02020603050405020304" pitchFamily="18" charset="0"/>
                <a:cs typeface="Times New Roman" panose="02020603050405020304" pitchFamily="18" charset="0"/>
              </a:rPr>
              <a:t>Lunch</a:t>
            </a:r>
          </a:p>
        </p:txBody>
      </p:sp>
      <p:sp>
        <p:nvSpPr>
          <p:cNvPr id="5" name="TextBox 4">
            <a:extLst>
              <a:ext uri="{FF2B5EF4-FFF2-40B4-BE49-F238E27FC236}">
                <a16:creationId xmlns:a16="http://schemas.microsoft.com/office/drawing/2014/main" id="{B56D8F31-A2E7-A490-8571-6482826D3334}"/>
              </a:ext>
            </a:extLst>
          </p:cNvPr>
          <p:cNvSpPr txBox="1"/>
          <p:nvPr/>
        </p:nvSpPr>
        <p:spPr>
          <a:xfrm>
            <a:off x="5537771" y="2341552"/>
            <a:ext cx="4972692" cy="1107996"/>
          </a:xfrm>
          <a:prstGeom prst="rect">
            <a:avLst/>
          </a:prstGeom>
          <a:noFill/>
        </p:spPr>
        <p:txBody>
          <a:bodyPr wrap="square" rtlCol="0">
            <a:spAutoFit/>
          </a:bodyPr>
          <a:lstStyle/>
          <a:p>
            <a:r>
              <a:rPr lang="en-US" sz="6600" dirty="0"/>
              <a:t>30 min break</a:t>
            </a:r>
          </a:p>
        </p:txBody>
      </p:sp>
    </p:spTree>
    <p:extLst>
      <p:ext uri="{BB962C8B-B14F-4D97-AF65-F5344CB8AC3E}">
        <p14:creationId xmlns:p14="http://schemas.microsoft.com/office/powerpoint/2010/main" val="1080401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8856323"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From Discovery to BAA</a:t>
            </a:r>
          </a:p>
        </p:txBody>
      </p:sp>
      <p:sp>
        <p:nvSpPr>
          <p:cNvPr id="4" name="TextBox 3">
            <a:extLst>
              <a:ext uri="{FF2B5EF4-FFF2-40B4-BE49-F238E27FC236}">
                <a16:creationId xmlns:a16="http://schemas.microsoft.com/office/drawing/2014/main" id="{BC425F74-56CF-D80D-4B30-359326E81E34}"/>
              </a:ext>
            </a:extLst>
          </p:cNvPr>
          <p:cNvSpPr txBox="1"/>
          <p:nvPr/>
        </p:nvSpPr>
        <p:spPr>
          <a:xfrm>
            <a:off x="164387" y="1990738"/>
            <a:ext cx="11887200" cy="954107"/>
          </a:xfrm>
          <a:prstGeom prst="rect">
            <a:avLst/>
          </a:prstGeom>
          <a:noFill/>
        </p:spPr>
        <p:txBody>
          <a:bodyPr wrap="square">
            <a:spAutoFit/>
          </a:bodyPr>
          <a:lstStyle/>
          <a:p>
            <a:r>
              <a:rPr lang="en-US" sz="2800" dirty="0"/>
              <a:t>66 Discovery Meetings set alone from the inside team. Less than 10 have gone to BAA and Data Pull. </a:t>
            </a:r>
          </a:p>
        </p:txBody>
      </p:sp>
      <p:sp>
        <p:nvSpPr>
          <p:cNvPr id="2" name="TextBox 1">
            <a:extLst>
              <a:ext uri="{FF2B5EF4-FFF2-40B4-BE49-F238E27FC236}">
                <a16:creationId xmlns:a16="http://schemas.microsoft.com/office/drawing/2014/main" id="{5B28BD70-C032-75E6-27E5-60ADD1288DEA}"/>
              </a:ext>
            </a:extLst>
          </p:cNvPr>
          <p:cNvSpPr txBox="1"/>
          <p:nvPr/>
        </p:nvSpPr>
        <p:spPr>
          <a:xfrm>
            <a:off x="349321" y="3144131"/>
            <a:ext cx="9750176" cy="1477328"/>
          </a:xfrm>
          <a:prstGeom prst="rect">
            <a:avLst/>
          </a:prstGeom>
          <a:noFill/>
        </p:spPr>
        <p:txBody>
          <a:bodyPr wrap="square" rtlCol="0">
            <a:spAutoFit/>
          </a:bodyPr>
          <a:lstStyle/>
          <a:p>
            <a:r>
              <a:rPr lang="en-US" dirty="0"/>
              <a:t>What we need to accomplish in this session:</a:t>
            </a:r>
          </a:p>
          <a:p>
            <a:endParaRPr lang="en-US" dirty="0"/>
          </a:p>
          <a:p>
            <a:pPr marL="285750" indent="-285750">
              <a:buFont typeface="Arial" panose="020B0604020202020204" pitchFamily="34" charset="0"/>
              <a:buChar char="•"/>
            </a:pPr>
            <a:r>
              <a:rPr lang="en-US" dirty="0"/>
              <a:t>Feedback for the inside team. How do we go from Good to Great?</a:t>
            </a:r>
          </a:p>
          <a:p>
            <a:pPr marL="285750" indent="-285750">
              <a:buFont typeface="Arial" panose="020B0604020202020204" pitchFamily="34" charset="0"/>
              <a:buChar char="•"/>
            </a:pPr>
            <a:r>
              <a:rPr lang="en-US" dirty="0"/>
              <a:t>What we need to say to earn the right to review their data?</a:t>
            </a:r>
          </a:p>
          <a:p>
            <a:endParaRPr lang="en-US" dirty="0"/>
          </a:p>
        </p:txBody>
      </p:sp>
    </p:spTree>
    <p:extLst>
      <p:ext uri="{BB962C8B-B14F-4D97-AF65-F5344CB8AC3E}">
        <p14:creationId xmlns:p14="http://schemas.microsoft.com/office/powerpoint/2010/main" val="2792138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with low confidence">
            <a:extLst>
              <a:ext uri="{FF2B5EF4-FFF2-40B4-BE49-F238E27FC236}">
                <a16:creationId xmlns:a16="http://schemas.microsoft.com/office/drawing/2014/main" id="{C0A2D2A3-6D58-4516-A1A2-FF76F7737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CB741784-A8D4-49E5-89A9-070A75774B48}"/>
              </a:ext>
            </a:extLst>
          </p:cNvPr>
          <p:cNvSpPr txBox="1">
            <a:spLocks/>
          </p:cNvSpPr>
          <p:nvPr/>
        </p:nvSpPr>
        <p:spPr>
          <a:xfrm>
            <a:off x="0" y="488087"/>
            <a:ext cx="9452225"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solidFill>
                  <a:schemeClr val="bg1"/>
                </a:solidFill>
                <a:latin typeface="+mn-lt"/>
                <a:cs typeface="Times New Roman" panose="02020603050405020304" pitchFamily="18" charset="0"/>
              </a:rPr>
              <a:t>Role Play – Selling the Data Analysis</a:t>
            </a:r>
          </a:p>
        </p:txBody>
      </p:sp>
      <p:pic>
        <p:nvPicPr>
          <p:cNvPr id="2" name="Picture 1">
            <a:extLst>
              <a:ext uri="{FF2B5EF4-FFF2-40B4-BE49-F238E27FC236}">
                <a16:creationId xmlns:a16="http://schemas.microsoft.com/office/drawing/2014/main" id="{8959431B-D637-AC12-4721-BBC336A6C07E}"/>
              </a:ext>
            </a:extLst>
          </p:cNvPr>
          <p:cNvPicPr>
            <a:picLocks noChangeAspect="1"/>
          </p:cNvPicPr>
          <p:nvPr/>
        </p:nvPicPr>
        <p:blipFill>
          <a:blip r:embed="rId3"/>
          <a:stretch>
            <a:fillRect/>
          </a:stretch>
        </p:blipFill>
        <p:spPr>
          <a:xfrm>
            <a:off x="3411234" y="2253109"/>
            <a:ext cx="5143500" cy="3429000"/>
          </a:xfrm>
          <a:prstGeom prst="rect">
            <a:avLst/>
          </a:prstGeom>
        </p:spPr>
      </p:pic>
    </p:spTree>
    <p:extLst>
      <p:ext uri="{BB962C8B-B14F-4D97-AF65-F5344CB8AC3E}">
        <p14:creationId xmlns:p14="http://schemas.microsoft.com/office/powerpoint/2010/main" val="1117446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2404154" y="420417"/>
            <a:ext cx="6914507"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Break</a:t>
            </a:r>
          </a:p>
        </p:txBody>
      </p:sp>
      <p:sp>
        <p:nvSpPr>
          <p:cNvPr id="2" name="TextBox 1">
            <a:extLst>
              <a:ext uri="{FF2B5EF4-FFF2-40B4-BE49-F238E27FC236}">
                <a16:creationId xmlns:a16="http://schemas.microsoft.com/office/drawing/2014/main" id="{9E094EFC-522B-C4E3-7DEA-5532F477D363}"/>
              </a:ext>
            </a:extLst>
          </p:cNvPr>
          <p:cNvSpPr txBox="1"/>
          <p:nvPr/>
        </p:nvSpPr>
        <p:spPr>
          <a:xfrm>
            <a:off x="3863083" y="3133857"/>
            <a:ext cx="7582328" cy="1107996"/>
          </a:xfrm>
          <a:prstGeom prst="rect">
            <a:avLst/>
          </a:prstGeom>
          <a:noFill/>
        </p:spPr>
        <p:txBody>
          <a:bodyPr wrap="square" rtlCol="0">
            <a:spAutoFit/>
          </a:bodyPr>
          <a:lstStyle/>
          <a:p>
            <a:r>
              <a:rPr lang="en-US" sz="6600" dirty="0">
                <a:solidFill>
                  <a:srgbClr val="FF0000"/>
                </a:solidFill>
              </a:rPr>
              <a:t>15 Min Break</a:t>
            </a:r>
          </a:p>
        </p:txBody>
      </p:sp>
    </p:spTree>
    <p:extLst>
      <p:ext uri="{BB962C8B-B14F-4D97-AF65-F5344CB8AC3E}">
        <p14:creationId xmlns:p14="http://schemas.microsoft.com/office/powerpoint/2010/main" val="28241477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8856323"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Salesforce – Building Reports</a:t>
            </a:r>
          </a:p>
        </p:txBody>
      </p:sp>
      <p:sp>
        <p:nvSpPr>
          <p:cNvPr id="5" name="TextBox 4">
            <a:extLst>
              <a:ext uri="{FF2B5EF4-FFF2-40B4-BE49-F238E27FC236}">
                <a16:creationId xmlns:a16="http://schemas.microsoft.com/office/drawing/2014/main" id="{1B02B68F-D3F5-4D6A-52A2-8231C4BC461F}"/>
              </a:ext>
            </a:extLst>
          </p:cNvPr>
          <p:cNvSpPr txBox="1"/>
          <p:nvPr/>
        </p:nvSpPr>
        <p:spPr>
          <a:xfrm>
            <a:off x="996593" y="2486346"/>
            <a:ext cx="9667982" cy="1446550"/>
          </a:xfrm>
          <a:prstGeom prst="rect">
            <a:avLst/>
          </a:prstGeom>
          <a:noFill/>
        </p:spPr>
        <p:txBody>
          <a:bodyPr wrap="square" rtlCol="0">
            <a:spAutoFit/>
          </a:bodyPr>
          <a:lstStyle/>
          <a:p>
            <a:pPr marL="285750" indent="-285750">
              <a:buFont typeface="Arial" panose="020B0604020202020204" pitchFamily="34" charset="0"/>
              <a:buChar char="•"/>
            </a:pPr>
            <a:r>
              <a:rPr lang="en-US" sz="4400" dirty="0"/>
              <a:t>List Views</a:t>
            </a:r>
          </a:p>
          <a:p>
            <a:pPr marL="285750" indent="-285750">
              <a:buFont typeface="Arial" panose="020B0604020202020204" pitchFamily="34" charset="0"/>
              <a:buChar char="•"/>
            </a:pPr>
            <a:r>
              <a:rPr lang="en-US" sz="4400" dirty="0"/>
              <a:t>Reports</a:t>
            </a:r>
          </a:p>
        </p:txBody>
      </p:sp>
    </p:spTree>
    <p:extLst>
      <p:ext uri="{BB962C8B-B14F-4D97-AF65-F5344CB8AC3E}">
        <p14:creationId xmlns:p14="http://schemas.microsoft.com/office/powerpoint/2010/main" val="3355728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8856323"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Role Play – Review Data</a:t>
            </a:r>
          </a:p>
        </p:txBody>
      </p:sp>
      <p:sp>
        <p:nvSpPr>
          <p:cNvPr id="5" name="TextBox 4">
            <a:extLst>
              <a:ext uri="{FF2B5EF4-FFF2-40B4-BE49-F238E27FC236}">
                <a16:creationId xmlns:a16="http://schemas.microsoft.com/office/drawing/2014/main" id="{1B02B68F-D3F5-4D6A-52A2-8231C4BC461F}"/>
              </a:ext>
            </a:extLst>
          </p:cNvPr>
          <p:cNvSpPr txBox="1"/>
          <p:nvPr/>
        </p:nvSpPr>
        <p:spPr>
          <a:xfrm>
            <a:off x="996593" y="2486346"/>
            <a:ext cx="9667982" cy="769441"/>
          </a:xfrm>
          <a:prstGeom prst="rect">
            <a:avLst/>
          </a:prstGeom>
          <a:noFill/>
        </p:spPr>
        <p:txBody>
          <a:bodyPr wrap="square" rtlCol="0">
            <a:spAutoFit/>
          </a:bodyPr>
          <a:lstStyle/>
          <a:p>
            <a:pPr marL="285750" indent="-285750">
              <a:buFont typeface="Arial" panose="020B0604020202020204" pitchFamily="34" charset="0"/>
              <a:buChar char="•"/>
            </a:pPr>
            <a:r>
              <a:rPr lang="en-US" sz="4400" dirty="0"/>
              <a:t>Review one of your prospects data</a:t>
            </a:r>
          </a:p>
        </p:txBody>
      </p:sp>
    </p:spTree>
    <p:extLst>
      <p:ext uri="{BB962C8B-B14F-4D97-AF65-F5344CB8AC3E}">
        <p14:creationId xmlns:p14="http://schemas.microsoft.com/office/powerpoint/2010/main" val="36987666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59C90F-812D-FCF1-5622-75CCE66ED93E}"/>
              </a:ext>
            </a:extLst>
          </p:cNvPr>
          <p:cNvSpPr>
            <a:spLocks noGrp="1"/>
          </p:cNvSpPr>
          <p:nvPr>
            <p:ph idx="1"/>
          </p:nvPr>
        </p:nvSpPr>
        <p:spPr/>
        <p:txBody>
          <a:bodyPr>
            <a:normAutofit/>
          </a:bodyPr>
          <a:lstStyle/>
          <a:p>
            <a:r>
              <a:rPr lang="en-US" sz="6000" dirty="0"/>
              <a:t>Getting the win – What is your approach to having a prospect say yes!</a:t>
            </a:r>
          </a:p>
        </p:txBody>
      </p:sp>
    </p:spTree>
    <p:extLst>
      <p:ext uri="{BB962C8B-B14F-4D97-AF65-F5344CB8AC3E}">
        <p14:creationId xmlns:p14="http://schemas.microsoft.com/office/powerpoint/2010/main" val="374309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0BC91F-3FB5-419C-A36B-904B23D873D9}"/>
              </a:ext>
            </a:extLst>
          </p:cNvPr>
          <p:cNvPicPr>
            <a:picLocks noChangeAspect="1"/>
          </p:cNvPicPr>
          <p:nvPr/>
        </p:nvPicPr>
        <p:blipFill>
          <a:blip r:embed="rId2"/>
          <a:stretch>
            <a:fillRect/>
          </a:stretch>
        </p:blipFill>
        <p:spPr>
          <a:xfrm>
            <a:off x="643467" y="1743576"/>
            <a:ext cx="5291666" cy="3370847"/>
          </a:xfrm>
          <a:prstGeom prst="rect">
            <a:avLst/>
          </a:prstGeom>
        </p:spPr>
      </p:pic>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865" y="1940719"/>
            <a:ext cx="5291667" cy="2976562"/>
          </a:xfrm>
          <a:prstGeom prst="rect">
            <a:avLst/>
          </a:prstGeom>
        </p:spPr>
      </p:pic>
    </p:spTree>
    <p:extLst>
      <p:ext uri="{BB962C8B-B14F-4D97-AF65-F5344CB8AC3E}">
        <p14:creationId xmlns:p14="http://schemas.microsoft.com/office/powerpoint/2010/main" val="2921641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8DA4FB5F-9D3B-4DCA-BB99-0048443A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3C2DB29-6DD0-451B-8250-82FE3FFD3F9C}"/>
              </a:ext>
            </a:extLst>
          </p:cNvPr>
          <p:cNvSpPr txBox="1">
            <a:spLocks/>
          </p:cNvSpPr>
          <p:nvPr/>
        </p:nvSpPr>
        <p:spPr>
          <a:xfrm>
            <a:off x="1" y="420417"/>
            <a:ext cx="8856323" cy="732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a:solidFill>
                  <a:schemeClr val="bg1"/>
                </a:solidFill>
                <a:latin typeface="+mn-lt"/>
              </a:rPr>
              <a:t>Key Take Aways</a:t>
            </a:r>
          </a:p>
        </p:txBody>
      </p:sp>
    </p:spTree>
    <p:extLst>
      <p:ext uri="{BB962C8B-B14F-4D97-AF65-F5344CB8AC3E}">
        <p14:creationId xmlns:p14="http://schemas.microsoft.com/office/powerpoint/2010/main" val="4024606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17107</TotalTime>
  <Words>2518</Words>
  <Application>Microsoft Macintosh PowerPoint</Application>
  <PresentationFormat>Widescreen</PresentationFormat>
  <Paragraphs>198</Paragraphs>
  <Slides>34</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34</vt:i4>
      </vt:variant>
    </vt:vector>
  </HeadingPairs>
  <TitlesOfParts>
    <vt:vector size="43" baseType="lpstr">
      <vt:lpstr>Arial</vt:lpstr>
      <vt:lpstr>Calibri</vt:lpstr>
      <vt:lpstr>Calibri Light</vt:lpstr>
      <vt:lpstr>inherit</vt:lpstr>
      <vt:lpstr>Montserrat</vt:lpstr>
      <vt:lpstr>Söhne</vt:lpstr>
      <vt:lpstr>Times New Roman</vt:lpstr>
      <vt:lpstr>Office Theme</vt:lpstr>
      <vt:lpstr>1_Office Theme</vt:lpstr>
      <vt:lpstr>National Sales Meeting </vt:lpstr>
      <vt:lpstr>Agenda</vt:lpstr>
      <vt:lpstr>Goals of the Day</vt:lpstr>
      <vt:lpstr>Rules</vt:lpstr>
      <vt:lpstr>PowerPoint Presentation</vt:lpstr>
      <vt:lpstr>State of Union  </vt:lpstr>
      <vt:lpstr>State of Union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Lunch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Casey Dixon</dc:creator>
  <cp:lastModifiedBy>Jordan Sternberg</cp:lastModifiedBy>
  <cp:revision>17</cp:revision>
  <dcterms:created xsi:type="dcterms:W3CDTF">2023-01-17T22:14:36Z</dcterms:created>
  <dcterms:modified xsi:type="dcterms:W3CDTF">2023-06-25T18:11:36Z</dcterms:modified>
</cp:coreProperties>
</file>