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816AEC-2D4A-4F75-9393-178625772C6C}" v="1" dt="2026-04-28T16:14:34.818"/>
    <p1510:client id="{913AD904-2088-438C-B321-B33140FDFDBC}" v="1" dt="2026-04-29T17:34:49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47" d="100"/>
          <a:sy n="47" d="100"/>
        </p:scale>
        <p:origin x="1027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0A5F2-24A2-4B56-8116-F9B70B5DF61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77B9E-DF03-4FAB-8E7A-7C89E0CAB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4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77B9E-DF03-4FAB-8E7A-7C89E0CAB2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1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F9A9D-4DE9-CAC2-57D4-D6AC0D71D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320A9-E16D-FE6D-3129-C05813B60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B04F5-8A51-1BA9-BE49-7E8ACB146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0DE5C-ED87-CA60-A4B7-74A21589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CAA62-9E44-5210-DAB3-8297AC10C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9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37F5-F414-BBC3-CDAF-54265C8D7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84A3E-E527-9867-2640-6ACC7786A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6BD7B-3DDB-45D2-12CA-BA517573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746EA-0D4A-8108-CFD7-C721A824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F12D0-9651-7EF1-2EFC-43B2160F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9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D43BA-528E-FCBE-1C46-2ADDF53CD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4E460-879D-2898-D624-0B43A3FDE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8398A-DE3B-093A-4A86-3285CAF85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A1E41-5C6A-6EDB-E2BA-A0DEE4100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81E9B-E090-8070-3D90-10701EF8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2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0532B-7606-D055-2B36-61F0AB82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11E6B-0815-9913-30FC-A6D1624E4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D2502-4BDB-8086-8C44-80DC5F23A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817AE-20C0-8B3D-6B8A-3D5DD5F9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9EAD6-143F-1663-4254-DB79D1E8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39410-7391-456C-4D64-9E34A496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1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1D19E-B327-774E-8D21-0B64BE4F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FDD44-B841-9982-6ABC-0EE78C655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70359-CCE5-DFF9-B954-D16C30465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76E16-3B11-504F-9EDB-9E1A98FD2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784EB-4230-325B-496C-FC30DA7A9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34CD2-BD46-8EF0-405E-190560037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690568-61F4-BD6C-1730-A5EACE00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EDEA4-E0B9-9EAB-8387-9A380345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49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79AC-C776-DDC0-6674-61C93D22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CF21C6-F83E-BB82-8B16-682B4F99B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CBB13-6EF6-3BC2-9FF7-F52C84AE9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913C06-3817-8CF0-F300-3417BD7D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81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0AB753-3247-2E26-4314-D66AD04F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FE6DD-1016-C0E4-8656-DB2ADEEF6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F5D3F-9944-569D-BD8C-2B8C02716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75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8A3E-0954-362D-1CAE-F52F84BF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B3114-F3DB-E823-FA03-21EC49CD8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28ED6-2674-5B2F-3B19-E4C67C330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04405-D9E5-9AC4-1C5A-43D7A465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182A8-C978-B069-1032-89DB2313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9D2BF-3B4B-E1B2-9478-AFE8B1F4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78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33454-A01A-361D-35D5-3DE5E375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E3440-059A-8BF1-0568-41CE06D38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104EB-02FC-2FF7-314D-E062C1655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332CD-C287-D25D-9AB3-69000EEA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FFF0B-9003-BF90-3C84-82443498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0A5C0-3FE0-9E33-4EE0-D9197800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54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7C5A-9CE1-AB3B-3D7D-1E4126812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2422D-F8D6-2633-A5D1-908BA8E40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54B18-0044-8176-66EC-01659B189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23C-465B-F8B5-4AC7-6AF30CB3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F3769-CAA9-1DA0-3856-F20B73FA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52C70-E29E-E08C-581F-E5E7CC184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9D91D-7784-9109-292D-EC6B0F4C5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FCD10-816C-A8D8-833B-92CFDED9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62ED8-6C56-87E0-1FA8-EECA17E1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99EDC-10A9-0D1A-88F2-B46DB76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69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E90EC8-5CE3-8E8B-4D4B-42DA09259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709F6-B20E-EFA9-342A-4F7DE29AB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14FC3-C187-0986-B8DC-E81A6FCC11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63E26-104A-7B46-824E-4BEC77AAEDF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CD09D-F61F-BB0B-041A-E110CE7BB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F78D0-E002-09A7-C8D1-1466E37AC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899EAF-DDC9-4A4C-9585-EB2169A66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8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&#10;&#10;Description automatically generated with low confidence">
            <a:extLst>
              <a:ext uri="{FF2B5EF4-FFF2-40B4-BE49-F238E27FC236}">
                <a16:creationId xmlns:a16="http://schemas.microsoft.com/office/drawing/2014/main" id="{9CD3CC88-2255-4400-BA0E-12612CD4F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3398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3628" y="2441981"/>
            <a:ext cx="4616716" cy="3701102"/>
          </a:xfrm>
        </p:spPr>
        <p:txBody>
          <a:bodyPr numCol="1" anchor="t" anchorCtr="0">
            <a:noAutofit/>
          </a:bodyPr>
          <a:lstStyle/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My Financial Coach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ACO Options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Group Purchasing Program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Linus Health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InBody Composition Analyzer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LabCorp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Referral Program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Patient Surveys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Monthly Communication Recommendations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Quarterly Physician Newsletter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Discounted Malpractice Insurance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2000" dirty="0">
              <a:latin typeface="Montserra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0C753-AB3C-4CE3-BA38-28DD1F87AA36}"/>
              </a:ext>
            </a:extLst>
          </p:cNvPr>
          <p:cNvSpPr txBox="1"/>
          <p:nvPr/>
        </p:nvSpPr>
        <p:spPr>
          <a:xfrm>
            <a:off x="-39230" y="2178473"/>
            <a:ext cx="4723111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Website Customization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Enhanced Business Listings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Online Review Monitoring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Non-Member Email Campaign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Patient Newsletter – Healthy Living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Personalized Membership Materials/Collateral </a:t>
            </a:r>
          </a:p>
          <a:p>
            <a:r>
              <a:rPr lang="en-US" sz="2800" b="1" dirty="0"/>
              <a:t>	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D2E3F1-5617-4589-897E-3CCF01B4B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2913" y="506784"/>
            <a:ext cx="6530692" cy="732976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The SignatureMD Advantage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9C0825-9CF1-D422-D391-065D1DD6A871}"/>
              </a:ext>
            </a:extLst>
          </p:cNvPr>
          <p:cNvSpPr txBox="1"/>
          <p:nvPr/>
        </p:nvSpPr>
        <p:spPr>
          <a:xfrm>
            <a:off x="2947566" y="1589592"/>
            <a:ext cx="6180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Physician 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AEDA5-C3AB-B226-1266-0C4E16BD9E8C}"/>
              </a:ext>
            </a:extLst>
          </p:cNvPr>
          <p:cNvSpPr txBox="1"/>
          <p:nvPr/>
        </p:nvSpPr>
        <p:spPr>
          <a:xfrm>
            <a:off x="-1496201" y="1599405"/>
            <a:ext cx="6180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Practice Marketing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50BB3-16C4-3454-C018-4F51AE0D604D}"/>
              </a:ext>
            </a:extLst>
          </p:cNvPr>
          <p:cNvSpPr txBox="1"/>
          <p:nvPr/>
        </p:nvSpPr>
        <p:spPr>
          <a:xfrm>
            <a:off x="6839813" y="1599053"/>
            <a:ext cx="618008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Member Benefits</a:t>
            </a:r>
          </a:p>
          <a:p>
            <a:pPr algn="ctr"/>
            <a:r>
              <a:rPr lang="en-US" sz="1400" b="1" dirty="0"/>
              <a:t>SignatureMD.com/</a:t>
            </a:r>
            <a:r>
              <a:rPr lang="en-US" sz="1400" b="1" dirty="0" err="1"/>
              <a:t>memberprograms</a:t>
            </a:r>
            <a:endParaRPr lang="en-US" sz="1400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2A81432-0CC0-6E93-7EC2-D836A8256724}"/>
              </a:ext>
            </a:extLst>
          </p:cNvPr>
          <p:cNvSpPr txBox="1">
            <a:spLocks/>
          </p:cNvSpPr>
          <p:nvPr/>
        </p:nvSpPr>
        <p:spPr>
          <a:xfrm>
            <a:off x="7938656" y="2434953"/>
            <a:ext cx="4099373" cy="3590727"/>
          </a:xfrm>
          <a:prstGeom prst="rect">
            <a:avLst/>
          </a:prstGeom>
        </p:spPr>
        <p:txBody>
          <a:bodyPr vert="horz" lIns="91440" tIns="45720" rIns="91440" bIns="45720" numCol="1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cs typeface="Times New Roman" panose="02020603050405020304" pitchFamily="18" charset="0"/>
              </a:rPr>
              <a:t>Member Programs Portal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cs typeface="Times New Roman" panose="02020603050405020304" pitchFamily="18" charset="0"/>
              </a:rPr>
              <a:t>Galleri Cancer Test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cs typeface="Times New Roman" panose="02020603050405020304" pitchFamily="18" charset="0"/>
              </a:rPr>
              <a:t>Rx Card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cs typeface="Times New Roman" panose="02020603050405020304" pitchFamily="18" charset="0"/>
              </a:rPr>
              <a:t>Wellness Assessment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cs typeface="Times New Roman" panose="02020603050405020304" pitchFamily="18" charset="0"/>
              </a:rPr>
              <a:t>Payload Perks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cs typeface="Times New Roman" panose="02020603050405020304" pitchFamily="18" charset="0"/>
              </a:rPr>
              <a:t>Linus Health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cs typeface="Times New Roman" panose="02020603050405020304" pitchFamily="18" charset="0"/>
              </a:rPr>
              <a:t>OnPoint Nutrition 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cs typeface="Times New Roman" panose="02020603050405020304" pitchFamily="18" charset="0"/>
              </a:rPr>
              <a:t>Talkspace</a:t>
            </a:r>
            <a:r>
              <a:rPr lang="en-US" sz="1400" dirty="0">
                <a:cs typeface="Times New Roman" panose="02020603050405020304" pitchFamily="18" charset="0"/>
              </a:rPr>
              <a:t> Mental Health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cs typeface="Times New Roman" panose="02020603050405020304" pitchFamily="18" charset="0"/>
              </a:rPr>
              <a:t>Member Webinars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cs typeface="Times New Roman" panose="02020603050405020304" pitchFamily="18" charset="0"/>
              </a:rPr>
              <a:t>Persona Nutritional Supplements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cs typeface="Times New Roman" panose="02020603050405020304" pitchFamily="18" charset="0"/>
              </a:rPr>
              <a:t>Prevounce</a:t>
            </a:r>
            <a:r>
              <a:rPr lang="en-US" sz="1400" dirty="0">
                <a:cs typeface="Times New Roman" panose="02020603050405020304" pitchFamily="18" charset="0"/>
              </a:rPr>
              <a:t> Remote Care Management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cs typeface="Times New Roman" panose="02020603050405020304" pitchFamily="18" charset="0"/>
              </a:rPr>
              <a:t>MyAbroadMDs</a:t>
            </a:r>
            <a:endParaRPr lang="en-US" sz="1400" dirty="0">
              <a:cs typeface="Times New Roman" panose="02020603050405020304" pitchFamily="18" charset="0"/>
            </a:endParaRP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cs typeface="Times New Roman" panose="02020603050405020304" pitchFamily="18" charset="0"/>
              </a:rPr>
              <a:t>MDVIEW Second Opinion Imaging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cs typeface="Times New Roman" panose="02020603050405020304" pitchFamily="18" charset="0"/>
              </a:rPr>
              <a:t>Prenuvo</a:t>
            </a:r>
            <a:r>
              <a:rPr lang="en-US" sz="1400" dirty="0">
                <a:cs typeface="Times New Roman" panose="02020603050405020304" pitchFamily="18" charset="0"/>
              </a:rPr>
              <a:t> Full Body MRI (coming in May 2026)</a:t>
            </a: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cs typeface="Times New Roman" panose="02020603050405020304" pitchFamily="18" charset="0"/>
            </a:endParaRPr>
          </a:p>
          <a:p>
            <a:pPr marL="952485" lvl="1" indent="-3429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endParaRPr lang="en-US" sz="1800" dirty="0"/>
          </a:p>
          <a:p>
            <a:endParaRPr lang="en-US" sz="1800" dirty="0"/>
          </a:p>
          <a:p>
            <a:endParaRPr lang="en-US" sz="2000" dirty="0">
              <a:latin typeface="Montserrat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E533AE-9A19-6BE3-D338-E551DFF93F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73" b="89991" l="9273" r="91273">
                        <a14:foregroundMark x1="9333" y1="22590" x2="9333" y2="22590"/>
                        <a14:foregroundMark x1="27394" y1="88338" x2="27394" y2="88338"/>
                        <a14:foregroundMark x1="23758" y1="75115" x2="23758" y2="75115"/>
                        <a14:foregroundMark x1="27030" y1="76217" x2="26788" y2="76217"/>
                        <a14:foregroundMark x1="23091" y1="76033" x2="22545" y2="76125"/>
                        <a14:foregroundMark x1="21152" y1="76033" x2="21152" y2="76033"/>
                        <a14:foregroundMark x1="76242" y1="56198" x2="76242" y2="56198"/>
                        <a14:foregroundMark x1="77879" y1="53260" x2="77879" y2="53260"/>
                        <a14:foregroundMark x1="71273" y1="56474" x2="71273" y2="56474"/>
                        <a14:foregroundMark x1="73758" y1="70064" x2="73758" y2="70064"/>
                        <a14:foregroundMark x1="85394" y1="72084" x2="85394" y2="72084"/>
                        <a14:foregroundMark x1="68727" y1="74747" x2="79394" y2="71625"/>
                        <a14:foregroundMark x1="86485" y1="66483" x2="74970" y2="41414"/>
                        <a14:foregroundMark x1="87758" y1="66758" x2="76242" y2="23600"/>
                        <a14:foregroundMark x1="88667" y1="58861" x2="87091" y2="70983"/>
                        <a14:foregroundMark x1="87091" y1="70983" x2="84485" y2="72176"/>
                        <a14:foregroundMark x1="86242" y1="73278" x2="90242" y2="64555"/>
                        <a14:foregroundMark x1="90242" y1="64555" x2="86970" y2="58494"/>
                        <a14:foregroundMark x1="90242" y1="71350" x2="90242" y2="71350"/>
                        <a14:foregroundMark x1="91333" y1="70799" x2="91333" y2="70799"/>
                        <a14:foregroundMark x1="67576" y1="55464" x2="67576" y2="55464"/>
                        <a14:foregroundMark x1="63576" y1="51148" x2="63576" y2="51148"/>
                        <a14:foregroundMark x1="63636" y1="42424" x2="63636" y2="42424"/>
                        <a14:foregroundMark x1="70182" y1="49679" x2="64667" y2="27640"/>
                        <a14:foregroundMark x1="57091" y1="18274" x2="63515" y2="18090"/>
                        <a14:foregroundMark x1="63515" y1="18090" x2="72667" y2="20018"/>
                        <a14:foregroundMark x1="72667" y1="20018" x2="76970" y2="28742"/>
                        <a14:foregroundMark x1="74061" y1="13499" x2="78848" y2="23875"/>
                        <a14:foregroundMark x1="78848" y1="23875" x2="79879" y2="30211"/>
                        <a14:foregroundMark x1="78182" y1="13958" x2="72909" y2="8632"/>
                        <a14:foregroundMark x1="72909" y1="8632" x2="57091" y2="15611"/>
                        <a14:foregroundMark x1="56424" y1="13958" x2="56424" y2="13958"/>
                        <a14:foregroundMark x1="59030" y1="12305" x2="59030" y2="12305"/>
                        <a14:foregroundMark x1="66303" y1="8724" x2="66303" y2="8724"/>
                        <a14:foregroundMark x1="70848" y1="7897" x2="70848" y2="7897"/>
                        <a14:foregroundMark x1="73333" y1="5969" x2="73333" y2="5969"/>
                        <a14:foregroundMark x1="76242" y1="4867" x2="76242" y2="4867"/>
                        <a14:foregroundMark x1="76970" y1="4591" x2="76970" y2="4591"/>
                        <a14:foregroundMark x1="76788" y1="3673" x2="76788" y2="3673"/>
                        <a14:foregroundMark x1="69758" y1="7071" x2="69758" y2="7071"/>
                        <a14:foregroundMark x1="64788" y1="9183" x2="64788" y2="9183"/>
                        <a14:foregroundMark x1="71758" y1="38476" x2="71758" y2="38476"/>
                        <a14:foregroundMark x1="67697" y1="42608" x2="66303" y2="42608"/>
                        <a14:foregroundMark x1="74909" y1="49954" x2="67091" y2="49128"/>
                        <a14:foregroundMark x1="21152" y1="76492" x2="28061" y2="76125"/>
                      </a14:backgroundRemoval>
                    </a14:imgEffect>
                    <a14:imgEffect>
                      <a14:brightnessContrast bright="5000"/>
                    </a14:imgEffect>
                  </a14:imgLayer>
                </a14:imgProps>
              </a:ext>
            </a:extLst>
          </a:blip>
          <a:srcRect l="7870" r="7341" b="5030"/>
          <a:stretch/>
        </p:blipFill>
        <p:spPr>
          <a:xfrm>
            <a:off x="1663506" y="5286235"/>
            <a:ext cx="2822096" cy="81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151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92df259-5b30-4596-a05c-99fa9307dc7b}" enabled="0" method="" siteId="{b92df259-5b30-4596-a05c-99fa9307dc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107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Montserrat</vt:lpstr>
      <vt:lpstr>Times New Roman</vt:lpstr>
      <vt:lpstr>Office Theme</vt:lpstr>
      <vt:lpstr>The SignatureMD Advantage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of Contents</dc:title>
  <dc:creator>Simone Perez</dc:creator>
  <cp:lastModifiedBy>Joe King</cp:lastModifiedBy>
  <cp:revision>2</cp:revision>
  <dcterms:created xsi:type="dcterms:W3CDTF">2024-07-10T14:41:03Z</dcterms:created>
  <dcterms:modified xsi:type="dcterms:W3CDTF">2026-04-29T17:34:49Z</dcterms:modified>
</cp:coreProperties>
</file>